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mpact" charset="1" panose="020B0806030902050204"/>
      <p:regular r:id="rId18"/>
    </p:embeddedFont>
    <p:embeddedFont>
      <p:font typeface="Roboto Bold" charset="1" panose="02000000000000000000"/>
      <p:regular r:id="rId19"/>
    </p:embeddedFont>
    <p:embeddedFont>
      <p:font typeface="Roboto Bold Italics" charset="1" panose="02000000000000000000"/>
      <p:regular r:id="rId20"/>
    </p:embeddedFont>
    <p:embeddedFont>
      <p:font typeface="Roboto" charset="1" panose="02000000000000000000"/>
      <p:regular r:id="rId21"/>
    </p:embeddedFont>
    <p:embeddedFont>
      <p:font typeface="Glacial Indifference Italics" charset="1" panose="00000000000000000000"/>
      <p:regular r:id="rId22"/>
    </p:embeddedFont>
    <p:embeddedFont>
      <p:font typeface="Hind Siliguri Bold" charset="1" panose="02000000000000000000"/>
      <p:regular r:id="rId23"/>
    </p:embeddedFont>
    <p:embeddedFont>
      <p:font typeface="Roboto Italics" charset="1" panose="02000000000000000000"/>
      <p:regular r:id="rId24"/>
    </p:embeddedFont>
    <p:embeddedFont>
      <p:font typeface="Hind Siliguri" charset="1" panose="02000000000000000000"/>
      <p:regular r:id="rId25"/>
    </p:embeddedFont>
    <p:embeddedFont>
      <p:font typeface="Glacial Indifference Bold Italics" charset="1" panose="00000800000000000000"/>
      <p:regular r:id="rId26"/>
    </p:embeddedFont>
    <p:embeddedFont>
      <p:font typeface="Poppins Italics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13" Target="../media/image48.png" Type="http://schemas.openxmlformats.org/officeDocument/2006/relationships/image"/><Relationship Id="rId14" Target="../media/image49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68.png" Type="http://schemas.openxmlformats.org/officeDocument/2006/relationships/image"/><Relationship Id="rId7" Target="../media/image6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4E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48372" y="-84031"/>
            <a:ext cx="4739628" cy="10455062"/>
          </a:xfrm>
          <a:custGeom>
            <a:avLst/>
            <a:gdLst/>
            <a:ahLst/>
            <a:cxnLst/>
            <a:rect r="r" b="b" t="t" l="l"/>
            <a:pathLst>
              <a:path h="10455062" w="4739628">
                <a:moveTo>
                  <a:pt x="4739628" y="0"/>
                </a:moveTo>
                <a:lnTo>
                  <a:pt x="0" y="0"/>
                </a:lnTo>
                <a:lnTo>
                  <a:pt x="0" y="10455062"/>
                </a:lnTo>
                <a:lnTo>
                  <a:pt x="4739628" y="10455062"/>
                </a:lnTo>
                <a:lnTo>
                  <a:pt x="47396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7553" y="1161140"/>
            <a:ext cx="2107397" cy="518069"/>
          </a:xfrm>
          <a:custGeom>
            <a:avLst/>
            <a:gdLst/>
            <a:ahLst/>
            <a:cxnLst/>
            <a:rect r="r" b="b" t="t" l="l"/>
            <a:pathLst>
              <a:path h="518069" w="2107397">
                <a:moveTo>
                  <a:pt x="0" y="0"/>
                </a:moveTo>
                <a:lnTo>
                  <a:pt x="2107397" y="0"/>
                </a:lnTo>
                <a:lnTo>
                  <a:pt x="2107397" y="518069"/>
                </a:lnTo>
                <a:lnTo>
                  <a:pt x="0" y="518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4451" y="-2734"/>
            <a:ext cx="18432451" cy="10373766"/>
          </a:xfrm>
          <a:custGeom>
            <a:avLst/>
            <a:gdLst/>
            <a:ahLst/>
            <a:cxnLst/>
            <a:rect r="r" b="b" t="t" l="l"/>
            <a:pathLst>
              <a:path h="10373766" w="18432451">
                <a:moveTo>
                  <a:pt x="0" y="0"/>
                </a:moveTo>
                <a:lnTo>
                  <a:pt x="18432451" y="0"/>
                </a:lnTo>
                <a:lnTo>
                  <a:pt x="18432451" y="10373765"/>
                </a:lnTo>
                <a:lnTo>
                  <a:pt x="0" y="10373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80340" y="3618690"/>
            <a:ext cx="12127321" cy="233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8"/>
              </a:lnSpc>
            </a:pPr>
            <a:r>
              <a:rPr lang="en-US" sz="9948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PROPUESTA DE PROYECTO APT CAPSTONE SOCIALSALE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16807" y="7888008"/>
            <a:ext cx="6131256" cy="151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03"/>
              </a:lnSpc>
            </a:pPr>
            <a:r>
              <a:rPr lang="en-US" b="true" sz="2859">
                <a:solidFill>
                  <a:srgbClr val="374E6D"/>
                </a:solidFill>
                <a:latin typeface="Roboto Bold"/>
                <a:ea typeface="Roboto Bold"/>
                <a:cs typeface="Roboto Bold"/>
                <a:sym typeface="Roboto Bold"/>
              </a:rPr>
              <a:t>INTEGRANTES: DANIELA FARIAS</a:t>
            </a:r>
          </a:p>
          <a:p>
            <a:pPr algn="r">
              <a:lnSpc>
                <a:spcPts val="4003"/>
              </a:lnSpc>
            </a:pPr>
            <a:r>
              <a:rPr lang="en-US" b="true" sz="2859">
                <a:solidFill>
                  <a:srgbClr val="374E6D"/>
                </a:solidFill>
                <a:latin typeface="Roboto Bold"/>
                <a:ea typeface="Roboto Bold"/>
                <a:cs typeface="Roboto Bold"/>
                <a:sym typeface="Roboto Bold"/>
              </a:rPr>
              <a:t>CARLOS RAMIREZ</a:t>
            </a:r>
          </a:p>
          <a:p>
            <a:pPr algn="r">
              <a:lnSpc>
                <a:spcPts val="4003"/>
              </a:lnSpc>
            </a:pPr>
            <a:r>
              <a:rPr lang="en-US" b="true" sz="2859">
                <a:solidFill>
                  <a:srgbClr val="374E6D"/>
                </a:solidFill>
                <a:latin typeface="Roboto Bold"/>
                <a:ea typeface="Roboto Bold"/>
                <a:cs typeface="Roboto Bold"/>
                <a:sym typeface="Roboto Bold"/>
              </a:rPr>
              <a:t>DOCENTE: LUIS ALBERTO BRAVO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55706" y="5856251"/>
            <a:ext cx="8976589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 i="true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Autom</a:t>
            </a:r>
            <a:r>
              <a:rPr lang="en-US" b="true" sz="4400" i="true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atizacion de ventas en tiktoklive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33463" y="-1766935"/>
            <a:ext cx="13820870" cy="1382087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3808">
            <a:off x="13019859" y="2559447"/>
            <a:ext cx="4351222" cy="5552304"/>
          </a:xfrm>
          <a:custGeom>
            <a:avLst/>
            <a:gdLst/>
            <a:ahLst/>
            <a:cxnLst/>
            <a:rect r="r" b="b" t="t" l="l"/>
            <a:pathLst>
              <a:path h="5552304" w="4351222">
                <a:moveTo>
                  <a:pt x="108703" y="0"/>
                </a:moveTo>
                <a:lnTo>
                  <a:pt x="4351221" y="84341"/>
                </a:lnTo>
                <a:lnTo>
                  <a:pt x="4242518" y="5552303"/>
                </a:lnTo>
                <a:lnTo>
                  <a:pt x="0" y="5467962"/>
                </a:lnTo>
                <a:lnTo>
                  <a:pt x="108703" y="0"/>
                </a:lnTo>
                <a:close/>
              </a:path>
            </a:pathLst>
          </a:custGeom>
          <a:blipFill>
            <a:blip r:embed="rId2"/>
            <a:stretch>
              <a:fillRect l="0" t="-502" r="0" b="-50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63910">
            <a:off x="8209552" y="2981477"/>
            <a:ext cx="4015307" cy="5228889"/>
          </a:xfrm>
          <a:custGeom>
            <a:avLst/>
            <a:gdLst/>
            <a:ahLst/>
            <a:cxnLst/>
            <a:rect r="r" b="b" t="t" l="l"/>
            <a:pathLst>
              <a:path h="5228889" w="4015307">
                <a:moveTo>
                  <a:pt x="0" y="0"/>
                </a:moveTo>
                <a:lnTo>
                  <a:pt x="4015308" y="0"/>
                </a:lnTo>
                <a:lnTo>
                  <a:pt x="4015308" y="5228889"/>
                </a:lnTo>
                <a:lnTo>
                  <a:pt x="0" y="522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2889">
            <a:off x="13170676" y="2747865"/>
            <a:ext cx="4295035" cy="5557807"/>
          </a:xfrm>
          <a:custGeom>
            <a:avLst/>
            <a:gdLst/>
            <a:ahLst/>
            <a:cxnLst/>
            <a:rect r="r" b="b" t="t" l="l"/>
            <a:pathLst>
              <a:path h="5557807" w="4295035">
                <a:moveTo>
                  <a:pt x="0" y="0"/>
                </a:moveTo>
                <a:lnTo>
                  <a:pt x="4295035" y="0"/>
                </a:lnTo>
                <a:lnTo>
                  <a:pt x="4295035" y="5557807"/>
                </a:lnTo>
                <a:lnTo>
                  <a:pt x="0" y="5557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31106">
            <a:off x="11752473" y="1162704"/>
            <a:ext cx="6885993" cy="8604423"/>
          </a:xfrm>
          <a:custGeom>
            <a:avLst/>
            <a:gdLst/>
            <a:ahLst/>
            <a:cxnLst/>
            <a:rect r="r" b="b" t="t" l="l"/>
            <a:pathLst>
              <a:path h="8604423" w="6885993">
                <a:moveTo>
                  <a:pt x="0" y="0"/>
                </a:moveTo>
                <a:lnTo>
                  <a:pt x="6885993" y="0"/>
                </a:lnTo>
                <a:lnTo>
                  <a:pt x="6885993" y="8604423"/>
                </a:lnTo>
                <a:lnTo>
                  <a:pt x="0" y="86044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337136" y="2072552"/>
            <a:ext cx="6071927" cy="7511769"/>
          </a:xfrm>
          <a:custGeom>
            <a:avLst/>
            <a:gdLst/>
            <a:ahLst/>
            <a:cxnLst/>
            <a:rect r="r" b="b" t="t" l="l"/>
            <a:pathLst>
              <a:path h="7511769" w="6071927">
                <a:moveTo>
                  <a:pt x="0" y="0"/>
                </a:moveTo>
                <a:lnTo>
                  <a:pt x="6071927" y="0"/>
                </a:lnTo>
                <a:lnTo>
                  <a:pt x="6071927" y="7511769"/>
                </a:lnTo>
                <a:lnTo>
                  <a:pt x="0" y="7511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134" t="-619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5369" y="973745"/>
            <a:ext cx="9199151" cy="203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8"/>
              </a:lnSpc>
            </a:pPr>
            <a:r>
              <a:rPr lang="en-US" sz="8686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FUNCIONAMIENTO DEL NEGOCIO ACTUAL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9216" y="3416694"/>
            <a:ext cx="9025886" cy="227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354" indent="-263677" lvl="1">
              <a:lnSpc>
                <a:spcPts val="3663"/>
              </a:lnSpc>
              <a:buFont typeface="Arial"/>
              <a:buChar char="•"/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Transmisión en TikTok.</a:t>
            </a:r>
          </a:p>
          <a:p>
            <a:pPr algn="l" marL="527354" indent="-263677" lvl="1">
              <a:lnSpc>
                <a:spcPts val="3663"/>
              </a:lnSpc>
              <a:buFont typeface="Arial"/>
              <a:buChar char="•"/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hat en vivo.</a:t>
            </a:r>
          </a:p>
          <a:p>
            <a:pPr algn="l" marL="527354" indent="-263677" lvl="1">
              <a:lnSpc>
                <a:spcPts val="3663"/>
              </a:lnSpc>
              <a:buFont typeface="Arial"/>
              <a:buChar char="•"/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oor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inacion por whatsapp.</a:t>
            </a:r>
          </a:p>
          <a:p>
            <a:pPr algn="l" marL="527354" indent="-263677" lvl="1">
              <a:lnSpc>
                <a:spcPts val="3663"/>
              </a:lnSpc>
              <a:buFont typeface="Arial"/>
              <a:buChar char="•"/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egistros manuales (lapiz y papel, en whatsapp)</a:t>
            </a:r>
          </a:p>
          <a:p>
            <a:pPr algn="l">
              <a:lnSpc>
                <a:spcPts val="366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5093" y="-3222771"/>
            <a:ext cx="9619093" cy="14818007"/>
            <a:chOff x="0" y="0"/>
            <a:chExt cx="2734982" cy="42131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4982" cy="4213181"/>
            </a:xfrm>
            <a:custGeom>
              <a:avLst/>
              <a:gdLst/>
              <a:ahLst/>
              <a:cxnLst/>
              <a:rect r="r" b="b" t="t" l="l"/>
              <a:pathLst>
                <a:path h="4213181" w="2734982">
                  <a:moveTo>
                    <a:pt x="0" y="0"/>
                  </a:moveTo>
                  <a:lnTo>
                    <a:pt x="2734982" y="0"/>
                  </a:lnTo>
                  <a:lnTo>
                    <a:pt x="2734982" y="4213181"/>
                  </a:lnTo>
                  <a:lnTo>
                    <a:pt x="0" y="4213181"/>
                  </a:ln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34982" cy="4270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87057" y="2047611"/>
            <a:ext cx="2920635" cy="292063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2D3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49922" y="2047611"/>
            <a:ext cx="2920635" cy="292063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2D3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87057" y="5318754"/>
            <a:ext cx="2920635" cy="292063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2D3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49922" y="5318754"/>
            <a:ext cx="2920635" cy="29206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2D3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550760" y="2212675"/>
            <a:ext cx="426566" cy="435272"/>
          </a:xfrm>
          <a:custGeom>
            <a:avLst/>
            <a:gdLst/>
            <a:ahLst/>
            <a:cxnLst/>
            <a:rect r="r" b="b" t="t" l="l"/>
            <a:pathLst>
              <a:path h="435272" w="426566">
                <a:moveTo>
                  <a:pt x="0" y="0"/>
                </a:moveTo>
                <a:lnTo>
                  <a:pt x="426567" y="0"/>
                </a:lnTo>
                <a:lnTo>
                  <a:pt x="426567" y="435272"/>
                </a:lnTo>
                <a:lnTo>
                  <a:pt x="0" y="435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911357" y="2222292"/>
            <a:ext cx="425655" cy="425655"/>
          </a:xfrm>
          <a:custGeom>
            <a:avLst/>
            <a:gdLst/>
            <a:ahLst/>
            <a:cxnLst/>
            <a:rect r="r" b="b" t="t" l="l"/>
            <a:pathLst>
              <a:path h="425655" w="425655">
                <a:moveTo>
                  <a:pt x="0" y="0"/>
                </a:moveTo>
                <a:lnTo>
                  <a:pt x="425655" y="0"/>
                </a:lnTo>
                <a:lnTo>
                  <a:pt x="425655" y="425655"/>
                </a:lnTo>
                <a:lnTo>
                  <a:pt x="0" y="4256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556782" y="5551983"/>
            <a:ext cx="420544" cy="378490"/>
          </a:xfrm>
          <a:custGeom>
            <a:avLst/>
            <a:gdLst/>
            <a:ahLst/>
            <a:cxnLst/>
            <a:rect r="r" b="b" t="t" l="l"/>
            <a:pathLst>
              <a:path h="378490" w="420544">
                <a:moveTo>
                  <a:pt x="0" y="0"/>
                </a:moveTo>
                <a:lnTo>
                  <a:pt x="420545" y="0"/>
                </a:lnTo>
                <a:lnTo>
                  <a:pt x="420545" y="378490"/>
                </a:lnTo>
                <a:lnTo>
                  <a:pt x="0" y="3784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35369" y="2433686"/>
            <a:ext cx="7133291" cy="131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3"/>
              </a:lnSpc>
            </a:pPr>
            <a:r>
              <a:rPr lang="en-US" sz="9878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PROBLEMA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5369" y="3798073"/>
            <a:ext cx="8318937" cy="365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Proceso de venta desordenado y manual, donde la vendedora debe realizar toda su gestion manualmente, lo que provoca errores y pérdida de tiempo.</a:t>
            </a:r>
          </a:p>
          <a:p>
            <a:pPr algn="l">
              <a:lnSpc>
                <a:spcPts val="3663"/>
              </a:lnSpc>
            </a:pPr>
          </a:p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También hay c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ompras que no se concretan. Muchas personas se adjudican productos durante el live, pero después no realizan el pago. Esto obliga a la vendedora a volver a ofrecerlas, generando trabajo extra.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92438" y="2806132"/>
            <a:ext cx="2109873" cy="43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73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ERRORES DE COORDINACION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64044" y="3518487"/>
            <a:ext cx="1966661" cy="72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9"/>
              </a:lnSpc>
            </a:pPr>
            <a:r>
              <a:rPr lang="en-US" sz="15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Datos repartidos sin registro unico y confiable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55303" y="2925140"/>
            <a:ext cx="2109873" cy="22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73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TIEMPO PERDIDO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72293" y="3271955"/>
            <a:ext cx="1966661" cy="120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9"/>
              </a:lnSpc>
            </a:pPr>
            <a:r>
              <a:rPr lang="en-US" sz="15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vendedora dedica minutos valiosos del live a tareas manuales y repetitivas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92438" y="6077219"/>
            <a:ext cx="2109873" cy="43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73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COMPRAS ABANDONADAS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64044" y="6789574"/>
            <a:ext cx="1966661" cy="72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9"/>
              </a:lnSpc>
            </a:pPr>
            <a:r>
              <a:rPr lang="en-US" sz="15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clientas reservan una compra y no terminan la compra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055303" y="6106773"/>
            <a:ext cx="2109873" cy="22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73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SIN VISIBILIDAD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26909" y="6819128"/>
            <a:ext cx="1966661" cy="72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9"/>
              </a:lnSpc>
            </a:pPr>
            <a:r>
              <a:rPr lang="en-US" sz="15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 hay metricas claras de ventas despues de cada live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959010" y="5523592"/>
            <a:ext cx="426566" cy="435272"/>
          </a:xfrm>
          <a:custGeom>
            <a:avLst/>
            <a:gdLst/>
            <a:ahLst/>
            <a:cxnLst/>
            <a:rect r="r" b="b" t="t" l="l"/>
            <a:pathLst>
              <a:path h="435272" w="426566">
                <a:moveTo>
                  <a:pt x="0" y="0"/>
                </a:moveTo>
                <a:lnTo>
                  <a:pt x="426566" y="0"/>
                </a:lnTo>
                <a:lnTo>
                  <a:pt x="426566" y="435272"/>
                </a:lnTo>
                <a:lnTo>
                  <a:pt x="0" y="435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-5400000">
            <a:off x="81107" y="2785966"/>
            <a:ext cx="896394" cy="62354"/>
            <a:chOff x="0" y="0"/>
            <a:chExt cx="236087" cy="164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6087" cy="16422"/>
            </a:xfrm>
            <a:custGeom>
              <a:avLst/>
              <a:gdLst/>
              <a:ahLst/>
              <a:cxnLst/>
              <a:rect r="r" b="b" t="t" l="l"/>
              <a:pathLst>
                <a:path h="16422" w="236087">
                  <a:moveTo>
                    <a:pt x="0" y="0"/>
                  </a:moveTo>
                  <a:lnTo>
                    <a:pt x="236087" y="0"/>
                  </a:lnTo>
                  <a:lnTo>
                    <a:pt x="236087" y="16422"/>
                  </a:lnTo>
                  <a:lnTo>
                    <a:pt x="0" y="16422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36087" cy="73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89557" y="2572812"/>
            <a:ext cx="6218952" cy="6171831"/>
            <a:chOff x="0" y="0"/>
            <a:chExt cx="894095" cy="887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4095" cy="887320"/>
            </a:xfrm>
            <a:custGeom>
              <a:avLst/>
              <a:gdLst/>
              <a:ahLst/>
              <a:cxnLst/>
              <a:rect r="r" b="b" t="t" l="l"/>
              <a:pathLst>
                <a:path h="887320" w="894095">
                  <a:moveTo>
                    <a:pt x="447047" y="0"/>
                  </a:moveTo>
                  <a:cubicBezTo>
                    <a:pt x="200150" y="0"/>
                    <a:pt x="0" y="198633"/>
                    <a:pt x="0" y="443660"/>
                  </a:cubicBezTo>
                  <a:cubicBezTo>
                    <a:pt x="0" y="688687"/>
                    <a:pt x="200150" y="887320"/>
                    <a:pt x="447047" y="887320"/>
                  </a:cubicBezTo>
                  <a:cubicBezTo>
                    <a:pt x="693945" y="887320"/>
                    <a:pt x="894095" y="688687"/>
                    <a:pt x="894095" y="443660"/>
                  </a:cubicBezTo>
                  <a:cubicBezTo>
                    <a:pt x="894095" y="198633"/>
                    <a:pt x="693945" y="0"/>
                    <a:pt x="447047" y="0"/>
                  </a:cubicBezTo>
                  <a:close/>
                </a:path>
              </a:pathLst>
            </a:custGeom>
            <a:ln w="76200" cap="sq">
              <a:solidFill>
                <a:srgbClr val="374E6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83821" y="26036"/>
              <a:ext cx="726452" cy="778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15829" y="1542357"/>
            <a:ext cx="4163855" cy="2996041"/>
            <a:chOff x="0" y="0"/>
            <a:chExt cx="1183902" cy="8518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3902" cy="851860"/>
            </a:xfrm>
            <a:custGeom>
              <a:avLst/>
              <a:gdLst/>
              <a:ahLst/>
              <a:cxnLst/>
              <a:rect r="r" b="b" t="t" l="l"/>
              <a:pathLst>
                <a:path h="851860" w="1183902">
                  <a:moveTo>
                    <a:pt x="0" y="0"/>
                  </a:moveTo>
                  <a:lnTo>
                    <a:pt x="1183902" y="0"/>
                  </a:lnTo>
                  <a:lnTo>
                    <a:pt x="1183902" y="851860"/>
                  </a:lnTo>
                  <a:lnTo>
                    <a:pt x="0" y="851860"/>
                  </a:ln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83902" cy="909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30454" y="4890166"/>
            <a:ext cx="4163855" cy="2996041"/>
            <a:chOff x="0" y="0"/>
            <a:chExt cx="1183902" cy="851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3902" cy="851860"/>
            </a:xfrm>
            <a:custGeom>
              <a:avLst/>
              <a:gdLst/>
              <a:ahLst/>
              <a:cxnLst/>
              <a:rect r="r" b="b" t="t" l="l"/>
              <a:pathLst>
                <a:path h="851860" w="1183902">
                  <a:moveTo>
                    <a:pt x="0" y="0"/>
                  </a:moveTo>
                  <a:lnTo>
                    <a:pt x="1183902" y="0"/>
                  </a:lnTo>
                  <a:lnTo>
                    <a:pt x="1183902" y="851860"/>
                  </a:lnTo>
                  <a:lnTo>
                    <a:pt x="0" y="851860"/>
                  </a:ln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83902" cy="909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95445" y="4887826"/>
            <a:ext cx="4163855" cy="2996041"/>
            <a:chOff x="0" y="0"/>
            <a:chExt cx="1183902" cy="8518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3902" cy="851860"/>
            </a:xfrm>
            <a:custGeom>
              <a:avLst/>
              <a:gdLst/>
              <a:ahLst/>
              <a:cxnLst/>
              <a:rect r="r" b="b" t="t" l="l"/>
              <a:pathLst>
                <a:path h="851860" w="1183902">
                  <a:moveTo>
                    <a:pt x="0" y="0"/>
                  </a:moveTo>
                  <a:lnTo>
                    <a:pt x="1183902" y="0"/>
                  </a:lnTo>
                  <a:lnTo>
                    <a:pt x="1183902" y="851860"/>
                  </a:lnTo>
                  <a:lnTo>
                    <a:pt x="0" y="851860"/>
                  </a:ln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83902" cy="909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-2000927" y="-2056379"/>
            <a:ext cx="9942894" cy="4693844"/>
            <a:chOff x="0" y="0"/>
            <a:chExt cx="812800" cy="3837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383707"/>
            </a:xfrm>
            <a:custGeom>
              <a:avLst/>
              <a:gdLst/>
              <a:ahLst/>
              <a:cxnLst/>
              <a:rect r="r" b="b" t="t" l="l"/>
              <a:pathLst>
                <a:path h="383707" w="812800">
                  <a:moveTo>
                    <a:pt x="609600" y="0"/>
                  </a:moveTo>
                  <a:cubicBezTo>
                    <a:pt x="721824" y="0"/>
                    <a:pt x="812800" y="85896"/>
                    <a:pt x="812800" y="191853"/>
                  </a:cubicBezTo>
                  <a:cubicBezTo>
                    <a:pt x="812800" y="297811"/>
                    <a:pt x="721824" y="383707"/>
                    <a:pt x="609600" y="383707"/>
                  </a:cubicBezTo>
                  <a:lnTo>
                    <a:pt x="203200" y="383707"/>
                  </a:lnTo>
                  <a:cubicBezTo>
                    <a:pt x="90976" y="383707"/>
                    <a:pt x="0" y="297811"/>
                    <a:pt x="0" y="191853"/>
                  </a:cubicBezTo>
                  <a:cubicBezTo>
                    <a:pt x="0" y="858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44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589258" y="1844831"/>
            <a:ext cx="416996" cy="302322"/>
          </a:xfrm>
          <a:custGeom>
            <a:avLst/>
            <a:gdLst/>
            <a:ahLst/>
            <a:cxnLst/>
            <a:rect r="r" b="b" t="t" l="l"/>
            <a:pathLst>
              <a:path h="302322" w="416996">
                <a:moveTo>
                  <a:pt x="0" y="0"/>
                </a:moveTo>
                <a:lnTo>
                  <a:pt x="416996" y="0"/>
                </a:lnTo>
                <a:lnTo>
                  <a:pt x="416996" y="302322"/>
                </a:lnTo>
                <a:lnTo>
                  <a:pt x="0" y="302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42007" y="5074801"/>
            <a:ext cx="473822" cy="452500"/>
          </a:xfrm>
          <a:custGeom>
            <a:avLst/>
            <a:gdLst/>
            <a:ahLst/>
            <a:cxnLst/>
            <a:rect r="r" b="b" t="t" l="l"/>
            <a:pathLst>
              <a:path h="452500" w="473822">
                <a:moveTo>
                  <a:pt x="0" y="0"/>
                </a:moveTo>
                <a:lnTo>
                  <a:pt x="473822" y="0"/>
                </a:lnTo>
                <a:lnTo>
                  <a:pt x="473822" y="452500"/>
                </a:lnTo>
                <a:lnTo>
                  <a:pt x="0" y="452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863394" y="4996678"/>
            <a:ext cx="627956" cy="530623"/>
          </a:xfrm>
          <a:custGeom>
            <a:avLst/>
            <a:gdLst/>
            <a:ahLst/>
            <a:cxnLst/>
            <a:rect r="r" b="b" t="t" l="l"/>
            <a:pathLst>
              <a:path h="530623" w="627956">
                <a:moveTo>
                  <a:pt x="0" y="0"/>
                </a:moveTo>
                <a:lnTo>
                  <a:pt x="627957" y="0"/>
                </a:lnTo>
                <a:lnTo>
                  <a:pt x="627957" y="530623"/>
                </a:lnTo>
                <a:lnTo>
                  <a:pt x="0" y="530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49607" y="8260711"/>
            <a:ext cx="7141212" cy="1268121"/>
            <a:chOff x="0" y="0"/>
            <a:chExt cx="1880813" cy="333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80813" cy="333991"/>
            </a:xfrm>
            <a:custGeom>
              <a:avLst/>
              <a:gdLst/>
              <a:ahLst/>
              <a:cxnLst/>
              <a:rect r="r" b="b" t="t" l="l"/>
              <a:pathLst>
                <a:path h="333991" w="1880813">
                  <a:moveTo>
                    <a:pt x="108412" y="0"/>
                  </a:moveTo>
                  <a:lnTo>
                    <a:pt x="1772401" y="0"/>
                  </a:lnTo>
                  <a:cubicBezTo>
                    <a:pt x="1801154" y="0"/>
                    <a:pt x="1828729" y="11422"/>
                    <a:pt x="1849060" y="31753"/>
                  </a:cubicBezTo>
                  <a:cubicBezTo>
                    <a:pt x="1869391" y="52084"/>
                    <a:pt x="1880813" y="79659"/>
                    <a:pt x="1880813" y="108412"/>
                  </a:cubicBezTo>
                  <a:lnTo>
                    <a:pt x="1880813" y="225579"/>
                  </a:lnTo>
                  <a:cubicBezTo>
                    <a:pt x="1880813" y="254331"/>
                    <a:pt x="1869391" y="281906"/>
                    <a:pt x="1849060" y="302238"/>
                  </a:cubicBezTo>
                  <a:cubicBezTo>
                    <a:pt x="1828729" y="322569"/>
                    <a:pt x="1801154" y="333991"/>
                    <a:pt x="1772401" y="333991"/>
                  </a:cubicBezTo>
                  <a:lnTo>
                    <a:pt x="108412" y="333991"/>
                  </a:lnTo>
                  <a:cubicBezTo>
                    <a:pt x="79659" y="333991"/>
                    <a:pt x="52084" y="322569"/>
                    <a:pt x="31753" y="302238"/>
                  </a:cubicBezTo>
                  <a:cubicBezTo>
                    <a:pt x="11422" y="281906"/>
                    <a:pt x="0" y="254331"/>
                    <a:pt x="0" y="225579"/>
                  </a:cubicBezTo>
                  <a:lnTo>
                    <a:pt x="0" y="108412"/>
                  </a:lnTo>
                  <a:cubicBezTo>
                    <a:pt x="0" y="79659"/>
                    <a:pt x="11422" y="52084"/>
                    <a:pt x="31753" y="31753"/>
                  </a:cubicBezTo>
                  <a:cubicBezTo>
                    <a:pt x="52084" y="11422"/>
                    <a:pt x="79659" y="0"/>
                    <a:pt x="108412" y="0"/>
                  </a:cubicBezTo>
                  <a:close/>
                </a:path>
              </a:pathLst>
            </a:custGeom>
            <a:solidFill>
              <a:srgbClr val="B9BED4">
                <a:alpha val="48627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880813" cy="391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2964055"/>
            <a:ext cx="1368834" cy="138554"/>
            <a:chOff x="0" y="0"/>
            <a:chExt cx="360516" cy="364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0516" cy="36492"/>
            </a:xfrm>
            <a:custGeom>
              <a:avLst/>
              <a:gdLst/>
              <a:ahLst/>
              <a:cxnLst/>
              <a:rect r="r" b="b" t="t" l="l"/>
              <a:pathLst>
                <a:path h="36492" w="360516">
                  <a:moveTo>
                    <a:pt x="0" y="0"/>
                  </a:moveTo>
                  <a:lnTo>
                    <a:pt x="360516" y="0"/>
                  </a:lnTo>
                  <a:lnTo>
                    <a:pt x="360516" y="36492"/>
                  </a:lnTo>
                  <a:lnTo>
                    <a:pt x="0" y="36492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60516" cy="93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3359784"/>
            <a:ext cx="6098177" cy="178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1"/>
              </a:lnSpc>
            </a:pPr>
            <a:r>
              <a:rPr lang="en-US" sz="13476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SOLUCIÓN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5753448"/>
            <a:ext cx="7078432" cy="182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Una plataforma web y movil que centraliza la deteccion del comprador, el carrito con tiempo limite y los resultados del negocio en un solo sistema conectado al live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97075" y="2404328"/>
            <a:ext cx="3603914" cy="6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6"/>
              </a:lnSpc>
            </a:pPr>
            <a:r>
              <a:rPr lang="en-US" b="true" sz="2502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DE</a:t>
            </a:r>
            <a:r>
              <a:rPr lang="en-US" b="true" sz="2502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TECCION AUTOMATICA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19457" y="3233523"/>
            <a:ext cx="3359151" cy="1043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26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Id</a:t>
            </a:r>
            <a:r>
              <a:rPr lang="en-US" sz="226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entifica al primer comprador de cada prenda en tiempo real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98834" y="5706353"/>
            <a:ext cx="3427096" cy="6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6"/>
              </a:lnSpc>
            </a:pPr>
            <a:r>
              <a:rPr lang="en-US" b="true" sz="2502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CARRITO CON TIEMPO LIMITE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61576" y="6530912"/>
            <a:ext cx="3101612" cy="1043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26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Genera un carrito individual que se libera si no se paga a tiempo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65101" y="5706353"/>
            <a:ext cx="3427096" cy="63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6"/>
              </a:lnSpc>
            </a:pPr>
            <a:r>
              <a:rPr lang="en-US" b="true" sz="2502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DASHBOARD DE RESULTADOS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63663" y="6530912"/>
            <a:ext cx="3328534" cy="1043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26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Muestra kpis de ventas por live y consolidados cada mes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54086" y="8885246"/>
            <a:ext cx="5818873" cy="34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sz="2239" i="true">
                <a:solidFill>
                  <a:srgbClr val="545454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Todo el proceso en un solo sistema conectado 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55219" y="8440125"/>
            <a:ext cx="925780" cy="909292"/>
            <a:chOff x="0" y="0"/>
            <a:chExt cx="243827" cy="2394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27" cy="239484"/>
            </a:xfrm>
            <a:custGeom>
              <a:avLst/>
              <a:gdLst/>
              <a:ahLst/>
              <a:cxnLst/>
              <a:rect r="r" b="b" t="t" l="l"/>
              <a:pathLst>
                <a:path h="239484" w="243827">
                  <a:moveTo>
                    <a:pt x="119742" y="0"/>
                  </a:moveTo>
                  <a:lnTo>
                    <a:pt x="124085" y="0"/>
                  </a:lnTo>
                  <a:cubicBezTo>
                    <a:pt x="155842" y="0"/>
                    <a:pt x="186299" y="12616"/>
                    <a:pt x="208755" y="35072"/>
                  </a:cubicBezTo>
                  <a:cubicBezTo>
                    <a:pt x="231211" y="57528"/>
                    <a:pt x="243827" y="87985"/>
                    <a:pt x="243827" y="119742"/>
                  </a:cubicBezTo>
                  <a:lnTo>
                    <a:pt x="243827" y="119742"/>
                  </a:lnTo>
                  <a:cubicBezTo>
                    <a:pt x="243827" y="151500"/>
                    <a:pt x="231211" y="181957"/>
                    <a:pt x="208755" y="204413"/>
                  </a:cubicBezTo>
                  <a:cubicBezTo>
                    <a:pt x="186299" y="226869"/>
                    <a:pt x="155842" y="239484"/>
                    <a:pt x="124085" y="239484"/>
                  </a:cubicBezTo>
                  <a:lnTo>
                    <a:pt x="119742" y="239484"/>
                  </a:lnTo>
                  <a:cubicBezTo>
                    <a:pt x="87985" y="239484"/>
                    <a:pt x="57528" y="226869"/>
                    <a:pt x="35072" y="204413"/>
                  </a:cubicBezTo>
                  <a:cubicBezTo>
                    <a:pt x="12616" y="181957"/>
                    <a:pt x="0" y="151500"/>
                    <a:pt x="0" y="119742"/>
                  </a:cubicBezTo>
                  <a:lnTo>
                    <a:pt x="0" y="119742"/>
                  </a:lnTo>
                  <a:cubicBezTo>
                    <a:pt x="0" y="87985"/>
                    <a:pt x="12616" y="57528"/>
                    <a:pt x="35072" y="35072"/>
                  </a:cubicBezTo>
                  <a:cubicBezTo>
                    <a:pt x="57528" y="12616"/>
                    <a:pt x="87985" y="0"/>
                    <a:pt x="119742" y="0"/>
                  </a:cubicBezTo>
                  <a:close/>
                </a:path>
              </a:pathLst>
            </a:custGeom>
            <a:solidFill>
              <a:srgbClr val="B9BED4">
                <a:alpha val="48627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43827" cy="296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028700" y="8582243"/>
            <a:ext cx="588170" cy="676057"/>
          </a:xfrm>
          <a:custGeom>
            <a:avLst/>
            <a:gdLst/>
            <a:ahLst/>
            <a:cxnLst/>
            <a:rect r="r" b="b" t="t" l="l"/>
            <a:pathLst>
              <a:path h="676057" w="588170">
                <a:moveTo>
                  <a:pt x="0" y="0"/>
                </a:moveTo>
                <a:lnTo>
                  <a:pt x="588170" y="0"/>
                </a:lnTo>
                <a:lnTo>
                  <a:pt x="588170" y="676057"/>
                </a:lnTo>
                <a:lnTo>
                  <a:pt x="0" y="6760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854086" y="8550375"/>
            <a:ext cx="5818873" cy="34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sz="2239" b="true">
                <a:solidFill>
                  <a:srgbClr val="545454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SISTEMA CENTRALIZADO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85875"/>
            <a:ext cx="8871939" cy="315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1"/>
              </a:lnSpc>
            </a:pPr>
            <a:r>
              <a:rPr lang="en-US" sz="13476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CÓMO VAMOS A HACERLO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061404"/>
            <a:ext cx="7078432" cy="90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2442" i="true">
                <a:solidFill>
                  <a:srgbClr val="242D3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De un comentario en el live a un carrito con link unico, sin intervencion manual.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17947" y="5969877"/>
            <a:ext cx="11452106" cy="3035010"/>
          </a:xfrm>
          <a:custGeom>
            <a:avLst/>
            <a:gdLst/>
            <a:ahLst/>
            <a:cxnLst/>
            <a:rect r="r" b="b" t="t" l="l"/>
            <a:pathLst>
              <a:path h="3035010" w="11452106">
                <a:moveTo>
                  <a:pt x="0" y="0"/>
                </a:moveTo>
                <a:lnTo>
                  <a:pt x="11452106" y="0"/>
                </a:lnTo>
                <a:lnTo>
                  <a:pt x="11452106" y="3035011"/>
                </a:lnTo>
                <a:lnTo>
                  <a:pt x="0" y="3035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95388" y="1705609"/>
            <a:ext cx="6666226" cy="1833431"/>
            <a:chOff x="0" y="0"/>
            <a:chExt cx="1755714" cy="4828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714" cy="482879"/>
            </a:xfrm>
            <a:custGeom>
              <a:avLst/>
              <a:gdLst/>
              <a:ahLst/>
              <a:cxnLst/>
              <a:rect r="r" b="b" t="t" l="l"/>
              <a:pathLst>
                <a:path h="482879" w="1755714">
                  <a:moveTo>
                    <a:pt x="116136" y="0"/>
                  </a:moveTo>
                  <a:lnTo>
                    <a:pt x="1639577" y="0"/>
                  </a:lnTo>
                  <a:cubicBezTo>
                    <a:pt x="1703718" y="0"/>
                    <a:pt x="1755714" y="51996"/>
                    <a:pt x="1755714" y="116136"/>
                  </a:cubicBezTo>
                  <a:lnTo>
                    <a:pt x="1755714" y="366743"/>
                  </a:lnTo>
                  <a:cubicBezTo>
                    <a:pt x="1755714" y="397544"/>
                    <a:pt x="1743478" y="427084"/>
                    <a:pt x="1721698" y="448863"/>
                  </a:cubicBezTo>
                  <a:cubicBezTo>
                    <a:pt x="1699918" y="470643"/>
                    <a:pt x="1670379" y="482879"/>
                    <a:pt x="1639577" y="482879"/>
                  </a:cubicBezTo>
                  <a:lnTo>
                    <a:pt x="116136" y="482879"/>
                  </a:lnTo>
                  <a:cubicBezTo>
                    <a:pt x="85335" y="482879"/>
                    <a:pt x="55795" y="470643"/>
                    <a:pt x="34016" y="448863"/>
                  </a:cubicBezTo>
                  <a:cubicBezTo>
                    <a:pt x="12236" y="427084"/>
                    <a:pt x="0" y="397544"/>
                    <a:pt x="0" y="366743"/>
                  </a:cubicBezTo>
                  <a:lnTo>
                    <a:pt x="0" y="116136"/>
                  </a:lnTo>
                  <a:cubicBezTo>
                    <a:pt x="0" y="85335"/>
                    <a:pt x="12236" y="55795"/>
                    <a:pt x="34016" y="34016"/>
                  </a:cubicBezTo>
                  <a:cubicBezTo>
                    <a:pt x="55795" y="12236"/>
                    <a:pt x="85335" y="0"/>
                    <a:pt x="116136" y="0"/>
                  </a:cubicBezTo>
                  <a:close/>
                </a:path>
              </a:pathLst>
            </a:custGeom>
            <a:solidFill>
              <a:srgbClr val="B9BED4">
                <a:alpha val="4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55714" cy="540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69244" y="2097426"/>
            <a:ext cx="1049797" cy="1049797"/>
          </a:xfrm>
          <a:custGeom>
            <a:avLst/>
            <a:gdLst/>
            <a:ahLst/>
            <a:cxnLst/>
            <a:rect r="r" b="b" t="t" l="l"/>
            <a:pathLst>
              <a:path h="1049797" w="1049797">
                <a:moveTo>
                  <a:pt x="0" y="0"/>
                </a:moveTo>
                <a:lnTo>
                  <a:pt x="1049797" y="0"/>
                </a:lnTo>
                <a:lnTo>
                  <a:pt x="1049797" y="1049797"/>
                </a:lnTo>
                <a:lnTo>
                  <a:pt x="0" y="10497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460461" y="2104805"/>
            <a:ext cx="4768016" cy="102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sz="2239">
                <a:solidFill>
                  <a:srgbClr val="545454"/>
                </a:solidFill>
                <a:latin typeface="Hind Siliguri"/>
                <a:ea typeface="Hind Siliguri"/>
                <a:cs typeface="Hind Siliguri"/>
                <a:sym typeface="Hind Siliguri"/>
              </a:rPr>
              <a:t>La vendedora solo agrega sus productos antes del live y copia el link para enviarlo por whatsapp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07710" y="3900946"/>
            <a:ext cx="5098093" cy="47625"/>
            <a:chOff x="0" y="0"/>
            <a:chExt cx="1342708" cy="12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2708" cy="12543"/>
            </a:xfrm>
            <a:custGeom>
              <a:avLst/>
              <a:gdLst/>
              <a:ahLst/>
              <a:cxnLst/>
              <a:rect r="r" b="b" t="t" l="l"/>
              <a:pathLst>
                <a:path h="12543" w="1342708">
                  <a:moveTo>
                    <a:pt x="0" y="0"/>
                  </a:moveTo>
                  <a:lnTo>
                    <a:pt x="1342708" y="0"/>
                  </a:lnTo>
                  <a:lnTo>
                    <a:pt x="1342708" y="12543"/>
                  </a:lnTo>
                  <a:lnTo>
                    <a:pt x="0" y="12543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42708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258043" y="-2786592"/>
            <a:ext cx="9942894" cy="4693844"/>
            <a:chOff x="0" y="0"/>
            <a:chExt cx="812800" cy="3837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83707"/>
            </a:xfrm>
            <a:custGeom>
              <a:avLst/>
              <a:gdLst/>
              <a:ahLst/>
              <a:cxnLst/>
              <a:rect r="r" b="b" t="t" l="l"/>
              <a:pathLst>
                <a:path h="383707" w="812800">
                  <a:moveTo>
                    <a:pt x="609600" y="0"/>
                  </a:moveTo>
                  <a:cubicBezTo>
                    <a:pt x="721824" y="0"/>
                    <a:pt x="812800" y="85896"/>
                    <a:pt x="812800" y="191853"/>
                  </a:cubicBezTo>
                  <a:cubicBezTo>
                    <a:pt x="812800" y="297811"/>
                    <a:pt x="721824" y="383707"/>
                    <a:pt x="609600" y="383707"/>
                  </a:cubicBezTo>
                  <a:lnTo>
                    <a:pt x="203200" y="383707"/>
                  </a:lnTo>
                  <a:cubicBezTo>
                    <a:pt x="90976" y="383707"/>
                    <a:pt x="0" y="297811"/>
                    <a:pt x="0" y="191853"/>
                  </a:cubicBezTo>
                  <a:cubicBezTo>
                    <a:pt x="0" y="858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44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7818" y="3997930"/>
            <a:ext cx="8031825" cy="901682"/>
            <a:chOff x="0" y="0"/>
            <a:chExt cx="2115378" cy="237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5378" cy="237480"/>
            </a:xfrm>
            <a:custGeom>
              <a:avLst/>
              <a:gdLst/>
              <a:ahLst/>
              <a:cxnLst/>
              <a:rect r="r" b="b" t="t" l="l"/>
              <a:pathLst>
                <a:path h="237480" w="2115378">
                  <a:moveTo>
                    <a:pt x="25062" y="0"/>
                  </a:moveTo>
                  <a:lnTo>
                    <a:pt x="2090316" y="0"/>
                  </a:lnTo>
                  <a:cubicBezTo>
                    <a:pt x="2096963" y="0"/>
                    <a:pt x="2103337" y="2640"/>
                    <a:pt x="2108037" y="7340"/>
                  </a:cubicBezTo>
                  <a:cubicBezTo>
                    <a:pt x="2112737" y="12040"/>
                    <a:pt x="2115378" y="18415"/>
                    <a:pt x="2115378" y="25062"/>
                  </a:cubicBezTo>
                  <a:lnTo>
                    <a:pt x="2115378" y="212419"/>
                  </a:lnTo>
                  <a:cubicBezTo>
                    <a:pt x="2115378" y="226260"/>
                    <a:pt x="2104157" y="237480"/>
                    <a:pt x="2090316" y="237480"/>
                  </a:cubicBezTo>
                  <a:lnTo>
                    <a:pt x="25062" y="237480"/>
                  </a:lnTo>
                  <a:cubicBezTo>
                    <a:pt x="18415" y="237480"/>
                    <a:pt x="12040" y="234840"/>
                    <a:pt x="7340" y="230140"/>
                  </a:cubicBezTo>
                  <a:cubicBezTo>
                    <a:pt x="2640" y="225440"/>
                    <a:pt x="0" y="219065"/>
                    <a:pt x="0" y="212419"/>
                  </a:cubicBezTo>
                  <a:lnTo>
                    <a:pt x="0" y="25062"/>
                  </a:lnTo>
                  <a:cubicBezTo>
                    <a:pt x="0" y="18415"/>
                    <a:pt x="2640" y="12040"/>
                    <a:pt x="7340" y="7340"/>
                  </a:cubicBezTo>
                  <a:cubicBezTo>
                    <a:pt x="12040" y="2640"/>
                    <a:pt x="18415" y="0"/>
                    <a:pt x="25062" y="0"/>
                  </a:cubicBezTo>
                  <a:close/>
                </a:path>
              </a:pathLst>
            </a:custGeom>
            <a:solidFill>
              <a:srgbClr val="DAE3EA">
                <a:alpha val="3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15378" cy="29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7818" y="3067592"/>
            <a:ext cx="8031825" cy="899179"/>
            <a:chOff x="0" y="0"/>
            <a:chExt cx="2115378" cy="2368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5378" cy="236821"/>
            </a:xfrm>
            <a:custGeom>
              <a:avLst/>
              <a:gdLst/>
              <a:ahLst/>
              <a:cxnLst/>
              <a:rect r="r" b="b" t="t" l="l"/>
              <a:pathLst>
                <a:path h="236821" w="2115378">
                  <a:moveTo>
                    <a:pt x="25062" y="0"/>
                  </a:moveTo>
                  <a:lnTo>
                    <a:pt x="2090316" y="0"/>
                  </a:lnTo>
                  <a:cubicBezTo>
                    <a:pt x="2096963" y="0"/>
                    <a:pt x="2103337" y="2640"/>
                    <a:pt x="2108037" y="7340"/>
                  </a:cubicBezTo>
                  <a:cubicBezTo>
                    <a:pt x="2112737" y="12040"/>
                    <a:pt x="2115378" y="18415"/>
                    <a:pt x="2115378" y="25062"/>
                  </a:cubicBezTo>
                  <a:lnTo>
                    <a:pt x="2115378" y="211759"/>
                  </a:lnTo>
                  <a:cubicBezTo>
                    <a:pt x="2115378" y="225600"/>
                    <a:pt x="2104157" y="236821"/>
                    <a:pt x="2090316" y="236821"/>
                  </a:cubicBezTo>
                  <a:lnTo>
                    <a:pt x="25062" y="236821"/>
                  </a:lnTo>
                  <a:cubicBezTo>
                    <a:pt x="11220" y="236821"/>
                    <a:pt x="0" y="225600"/>
                    <a:pt x="0" y="211759"/>
                  </a:cubicBezTo>
                  <a:lnTo>
                    <a:pt x="0" y="25062"/>
                  </a:lnTo>
                  <a:cubicBezTo>
                    <a:pt x="0" y="18415"/>
                    <a:pt x="2640" y="12040"/>
                    <a:pt x="7340" y="7340"/>
                  </a:cubicBezTo>
                  <a:cubicBezTo>
                    <a:pt x="12040" y="2640"/>
                    <a:pt x="18415" y="0"/>
                    <a:pt x="25062" y="0"/>
                  </a:cubicBezTo>
                  <a:close/>
                </a:path>
              </a:pathLst>
            </a:custGeom>
            <a:solidFill>
              <a:srgbClr val="DAE3EA">
                <a:alpha val="4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15378" cy="293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88540" y="2101102"/>
            <a:ext cx="6546139" cy="654613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DAE4">
                <a:alpha val="4000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97818" y="4942025"/>
            <a:ext cx="8031825" cy="901682"/>
            <a:chOff x="0" y="0"/>
            <a:chExt cx="2115378" cy="237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15378" cy="237480"/>
            </a:xfrm>
            <a:custGeom>
              <a:avLst/>
              <a:gdLst/>
              <a:ahLst/>
              <a:cxnLst/>
              <a:rect r="r" b="b" t="t" l="l"/>
              <a:pathLst>
                <a:path h="237480" w="2115378">
                  <a:moveTo>
                    <a:pt x="25062" y="0"/>
                  </a:moveTo>
                  <a:lnTo>
                    <a:pt x="2090316" y="0"/>
                  </a:lnTo>
                  <a:cubicBezTo>
                    <a:pt x="2096963" y="0"/>
                    <a:pt x="2103337" y="2640"/>
                    <a:pt x="2108037" y="7340"/>
                  </a:cubicBezTo>
                  <a:cubicBezTo>
                    <a:pt x="2112737" y="12040"/>
                    <a:pt x="2115378" y="18415"/>
                    <a:pt x="2115378" y="25062"/>
                  </a:cubicBezTo>
                  <a:lnTo>
                    <a:pt x="2115378" y="212419"/>
                  </a:lnTo>
                  <a:cubicBezTo>
                    <a:pt x="2115378" y="226260"/>
                    <a:pt x="2104157" y="237480"/>
                    <a:pt x="2090316" y="237480"/>
                  </a:cubicBezTo>
                  <a:lnTo>
                    <a:pt x="25062" y="237480"/>
                  </a:lnTo>
                  <a:cubicBezTo>
                    <a:pt x="18415" y="237480"/>
                    <a:pt x="12040" y="234840"/>
                    <a:pt x="7340" y="230140"/>
                  </a:cubicBezTo>
                  <a:cubicBezTo>
                    <a:pt x="2640" y="225440"/>
                    <a:pt x="0" y="219065"/>
                    <a:pt x="0" y="212419"/>
                  </a:cubicBezTo>
                  <a:lnTo>
                    <a:pt x="0" y="25062"/>
                  </a:lnTo>
                  <a:cubicBezTo>
                    <a:pt x="0" y="18415"/>
                    <a:pt x="2640" y="12040"/>
                    <a:pt x="7340" y="7340"/>
                  </a:cubicBezTo>
                  <a:cubicBezTo>
                    <a:pt x="12040" y="2640"/>
                    <a:pt x="18415" y="0"/>
                    <a:pt x="25062" y="0"/>
                  </a:cubicBezTo>
                  <a:close/>
                </a:path>
              </a:pathLst>
            </a:custGeom>
            <a:solidFill>
              <a:srgbClr val="DAE3EA">
                <a:alpha val="2392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115378" cy="29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35037" y="3266392"/>
            <a:ext cx="8404548" cy="227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Re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sumen del producto reservado.</a:t>
            </a:r>
          </a:p>
          <a:p>
            <a:pPr algn="l">
              <a:lnSpc>
                <a:spcPts val="3663"/>
              </a:lnSpc>
            </a:pPr>
          </a:p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Pasarela de pago y formulario para datos de envio.</a:t>
            </a:r>
          </a:p>
          <a:p>
            <a:pPr algn="l">
              <a:lnSpc>
                <a:spcPts val="3663"/>
              </a:lnSpc>
            </a:pPr>
          </a:p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ontador de tiempo limite para pagar.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011556" y="1373723"/>
            <a:ext cx="7939985" cy="7539554"/>
          </a:xfrm>
          <a:custGeom>
            <a:avLst/>
            <a:gdLst/>
            <a:ahLst/>
            <a:cxnLst/>
            <a:rect r="r" b="b" t="t" l="l"/>
            <a:pathLst>
              <a:path h="7539554" w="7939985">
                <a:moveTo>
                  <a:pt x="0" y="0"/>
                </a:moveTo>
                <a:lnTo>
                  <a:pt x="7939985" y="0"/>
                </a:lnTo>
                <a:lnTo>
                  <a:pt x="7939985" y="7539554"/>
                </a:lnTo>
                <a:lnTo>
                  <a:pt x="0" y="7539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05493" y="995699"/>
            <a:ext cx="1368834" cy="138554"/>
            <a:chOff x="0" y="0"/>
            <a:chExt cx="360516" cy="364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0516" cy="36492"/>
            </a:xfrm>
            <a:custGeom>
              <a:avLst/>
              <a:gdLst/>
              <a:ahLst/>
              <a:cxnLst/>
              <a:rect r="r" b="b" t="t" l="l"/>
              <a:pathLst>
                <a:path h="36492" w="360516">
                  <a:moveTo>
                    <a:pt x="0" y="0"/>
                  </a:moveTo>
                  <a:lnTo>
                    <a:pt x="360516" y="0"/>
                  </a:lnTo>
                  <a:lnTo>
                    <a:pt x="360516" y="36492"/>
                  </a:lnTo>
                  <a:lnTo>
                    <a:pt x="0" y="36492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60516" cy="93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67223" y="3102642"/>
            <a:ext cx="829560" cy="815957"/>
            <a:chOff x="0" y="0"/>
            <a:chExt cx="218485" cy="2149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67223" y="4039162"/>
            <a:ext cx="829560" cy="815957"/>
            <a:chOff x="0" y="0"/>
            <a:chExt cx="218485" cy="2149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83038" y="4978944"/>
            <a:ext cx="829560" cy="815957"/>
            <a:chOff x="0" y="0"/>
            <a:chExt cx="218485" cy="2149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053000" y="3284371"/>
            <a:ext cx="473822" cy="452500"/>
          </a:xfrm>
          <a:custGeom>
            <a:avLst/>
            <a:gdLst/>
            <a:ahLst/>
            <a:cxnLst/>
            <a:rect r="r" b="b" t="t" l="l"/>
            <a:pathLst>
              <a:path h="452500" w="473822">
                <a:moveTo>
                  <a:pt x="0" y="0"/>
                </a:moveTo>
                <a:lnTo>
                  <a:pt x="473821" y="0"/>
                </a:lnTo>
                <a:lnTo>
                  <a:pt x="473821" y="452499"/>
                </a:lnTo>
                <a:lnTo>
                  <a:pt x="0" y="452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52428" y="4153801"/>
            <a:ext cx="659151" cy="589940"/>
          </a:xfrm>
          <a:custGeom>
            <a:avLst/>
            <a:gdLst/>
            <a:ahLst/>
            <a:cxnLst/>
            <a:rect r="r" b="b" t="t" l="l"/>
            <a:pathLst>
              <a:path h="589940" w="659151">
                <a:moveTo>
                  <a:pt x="0" y="0"/>
                </a:moveTo>
                <a:lnTo>
                  <a:pt x="659150" y="0"/>
                </a:lnTo>
                <a:lnTo>
                  <a:pt x="659150" y="589940"/>
                </a:lnTo>
                <a:lnTo>
                  <a:pt x="0" y="5899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55619" y="5093244"/>
            <a:ext cx="484397" cy="556779"/>
          </a:xfrm>
          <a:custGeom>
            <a:avLst/>
            <a:gdLst/>
            <a:ahLst/>
            <a:cxnLst/>
            <a:rect r="r" b="b" t="t" l="l"/>
            <a:pathLst>
              <a:path h="556779" w="484397">
                <a:moveTo>
                  <a:pt x="0" y="0"/>
                </a:moveTo>
                <a:lnTo>
                  <a:pt x="484398" y="0"/>
                </a:lnTo>
                <a:lnTo>
                  <a:pt x="484398" y="556778"/>
                </a:lnTo>
                <a:lnTo>
                  <a:pt x="0" y="556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888307" y="6509303"/>
            <a:ext cx="8031825" cy="1806900"/>
            <a:chOff x="0" y="0"/>
            <a:chExt cx="2115378" cy="4758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15378" cy="475891"/>
            </a:xfrm>
            <a:custGeom>
              <a:avLst/>
              <a:gdLst/>
              <a:ahLst/>
              <a:cxnLst/>
              <a:rect r="r" b="b" t="t" l="l"/>
              <a:pathLst>
                <a:path h="475891" w="2115378">
                  <a:moveTo>
                    <a:pt x="25062" y="0"/>
                  </a:moveTo>
                  <a:lnTo>
                    <a:pt x="2090316" y="0"/>
                  </a:lnTo>
                  <a:cubicBezTo>
                    <a:pt x="2096963" y="0"/>
                    <a:pt x="2103337" y="2640"/>
                    <a:pt x="2108037" y="7340"/>
                  </a:cubicBezTo>
                  <a:cubicBezTo>
                    <a:pt x="2112737" y="12040"/>
                    <a:pt x="2115378" y="18415"/>
                    <a:pt x="2115378" y="25062"/>
                  </a:cubicBezTo>
                  <a:lnTo>
                    <a:pt x="2115378" y="450830"/>
                  </a:lnTo>
                  <a:cubicBezTo>
                    <a:pt x="2115378" y="457476"/>
                    <a:pt x="2112737" y="463851"/>
                    <a:pt x="2108037" y="468551"/>
                  </a:cubicBezTo>
                  <a:cubicBezTo>
                    <a:pt x="2103337" y="473251"/>
                    <a:pt x="2096963" y="475891"/>
                    <a:pt x="2090316" y="475891"/>
                  </a:cubicBezTo>
                  <a:lnTo>
                    <a:pt x="25062" y="475891"/>
                  </a:lnTo>
                  <a:cubicBezTo>
                    <a:pt x="11220" y="475891"/>
                    <a:pt x="0" y="464671"/>
                    <a:pt x="0" y="450830"/>
                  </a:cubicBezTo>
                  <a:lnTo>
                    <a:pt x="0" y="25062"/>
                  </a:lnTo>
                  <a:cubicBezTo>
                    <a:pt x="0" y="18415"/>
                    <a:pt x="2640" y="12040"/>
                    <a:pt x="7340" y="7340"/>
                  </a:cubicBezTo>
                  <a:cubicBezTo>
                    <a:pt x="12040" y="2640"/>
                    <a:pt x="18415" y="0"/>
                    <a:pt x="25062" y="0"/>
                  </a:cubicBezTo>
                  <a:close/>
                </a:path>
              </a:pathLst>
            </a:custGeom>
            <a:solidFill>
              <a:srgbClr val="DAE3EA">
                <a:alpha val="23922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115378" cy="53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6758925"/>
            <a:ext cx="1174405" cy="1210539"/>
            <a:chOff x="0" y="0"/>
            <a:chExt cx="309308" cy="3188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9308" cy="318825"/>
            </a:xfrm>
            <a:custGeom>
              <a:avLst/>
              <a:gdLst/>
              <a:ahLst/>
              <a:cxnLst/>
              <a:rect r="r" b="b" t="t" l="l"/>
              <a:pathLst>
                <a:path h="318825" w="309308">
                  <a:moveTo>
                    <a:pt x="154654" y="0"/>
                  </a:moveTo>
                  <a:lnTo>
                    <a:pt x="154654" y="0"/>
                  </a:lnTo>
                  <a:cubicBezTo>
                    <a:pt x="195671" y="0"/>
                    <a:pt x="235008" y="16294"/>
                    <a:pt x="264011" y="45297"/>
                  </a:cubicBezTo>
                  <a:cubicBezTo>
                    <a:pt x="293015" y="74300"/>
                    <a:pt x="309308" y="113637"/>
                    <a:pt x="309308" y="154654"/>
                  </a:cubicBezTo>
                  <a:lnTo>
                    <a:pt x="309308" y="164171"/>
                  </a:lnTo>
                  <a:cubicBezTo>
                    <a:pt x="309308" y="205188"/>
                    <a:pt x="293015" y="244525"/>
                    <a:pt x="264011" y="273528"/>
                  </a:cubicBezTo>
                  <a:cubicBezTo>
                    <a:pt x="235008" y="302531"/>
                    <a:pt x="195671" y="318825"/>
                    <a:pt x="154654" y="318825"/>
                  </a:cubicBezTo>
                  <a:lnTo>
                    <a:pt x="154654" y="318825"/>
                  </a:lnTo>
                  <a:cubicBezTo>
                    <a:pt x="113637" y="318825"/>
                    <a:pt x="74300" y="302531"/>
                    <a:pt x="45297" y="273528"/>
                  </a:cubicBezTo>
                  <a:cubicBezTo>
                    <a:pt x="16294" y="244525"/>
                    <a:pt x="0" y="205188"/>
                    <a:pt x="0" y="164171"/>
                  </a:cubicBezTo>
                  <a:lnTo>
                    <a:pt x="0" y="154654"/>
                  </a:lnTo>
                  <a:cubicBezTo>
                    <a:pt x="0" y="113637"/>
                    <a:pt x="16294" y="74300"/>
                    <a:pt x="45297" y="45297"/>
                  </a:cubicBezTo>
                  <a:cubicBezTo>
                    <a:pt x="74300" y="16294"/>
                    <a:pt x="113637" y="0"/>
                    <a:pt x="154654" y="0"/>
                  </a:cubicBezTo>
                  <a:close/>
                </a:path>
              </a:pathLst>
            </a:custGeom>
            <a:solidFill>
              <a:srgbClr val="CECDC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309308" cy="375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133772" y="6916992"/>
            <a:ext cx="955613" cy="879164"/>
          </a:xfrm>
          <a:custGeom>
            <a:avLst/>
            <a:gdLst/>
            <a:ahLst/>
            <a:cxnLst/>
            <a:rect r="r" b="b" t="t" l="l"/>
            <a:pathLst>
              <a:path h="879164" w="955613">
                <a:moveTo>
                  <a:pt x="0" y="0"/>
                </a:moveTo>
                <a:lnTo>
                  <a:pt x="955613" y="0"/>
                </a:lnTo>
                <a:lnTo>
                  <a:pt x="955613" y="879165"/>
                </a:lnTo>
                <a:lnTo>
                  <a:pt x="0" y="8791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4986647" y="303627"/>
            <a:ext cx="2501509" cy="994661"/>
            <a:chOff x="0" y="0"/>
            <a:chExt cx="658834" cy="2619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834" cy="261968"/>
            </a:xfrm>
            <a:custGeom>
              <a:avLst/>
              <a:gdLst/>
              <a:ahLst/>
              <a:cxnLst/>
              <a:rect r="r" b="b" t="t" l="l"/>
              <a:pathLst>
                <a:path h="261968" w="658834">
                  <a:moveTo>
                    <a:pt x="80467" y="0"/>
                  </a:moveTo>
                  <a:lnTo>
                    <a:pt x="578366" y="0"/>
                  </a:lnTo>
                  <a:cubicBezTo>
                    <a:pt x="622807" y="0"/>
                    <a:pt x="658834" y="36026"/>
                    <a:pt x="658834" y="80467"/>
                  </a:cubicBezTo>
                  <a:lnTo>
                    <a:pt x="658834" y="181501"/>
                  </a:lnTo>
                  <a:cubicBezTo>
                    <a:pt x="658834" y="225942"/>
                    <a:pt x="622807" y="261968"/>
                    <a:pt x="578366" y="261968"/>
                  </a:cubicBezTo>
                  <a:lnTo>
                    <a:pt x="80467" y="261968"/>
                  </a:lnTo>
                  <a:cubicBezTo>
                    <a:pt x="36026" y="261968"/>
                    <a:pt x="0" y="225942"/>
                    <a:pt x="0" y="181501"/>
                  </a:cubicBezTo>
                  <a:lnTo>
                    <a:pt x="0" y="80467"/>
                  </a:lnTo>
                  <a:cubicBezTo>
                    <a:pt x="0" y="36026"/>
                    <a:pt x="36026" y="0"/>
                    <a:pt x="80467" y="0"/>
                  </a:cubicBezTo>
                  <a:close/>
                </a:path>
              </a:pathLst>
            </a:custGeom>
            <a:solidFill>
              <a:srgbClr val="DAE3EA">
                <a:alpha val="23922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58834" cy="31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6788556">
            <a:off x="14138992" y="766153"/>
            <a:ext cx="999319" cy="329775"/>
          </a:xfrm>
          <a:custGeom>
            <a:avLst/>
            <a:gdLst/>
            <a:ahLst/>
            <a:cxnLst/>
            <a:rect r="r" b="b" t="t" l="l"/>
            <a:pathLst>
              <a:path h="329775" w="999319">
                <a:moveTo>
                  <a:pt x="0" y="0"/>
                </a:moveTo>
                <a:lnTo>
                  <a:pt x="999319" y="0"/>
                </a:lnTo>
                <a:lnTo>
                  <a:pt x="999319" y="329775"/>
                </a:lnTo>
                <a:lnTo>
                  <a:pt x="0" y="32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350593" y="1352844"/>
            <a:ext cx="9107252" cy="146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81"/>
              </a:lnSpc>
            </a:pPr>
            <a:r>
              <a:rPr lang="en-US" sz="10976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VISTA DEL CLIENTE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308396" y="6889372"/>
            <a:ext cx="5854981" cy="389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893" b="true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PAGO SIN FRICCION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366482" y="7231075"/>
            <a:ext cx="4532452" cy="63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i="true" b="true">
                <a:solidFill>
                  <a:srgbClr val="242D3B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la clienta completa todo desde el link, sin enviar mensajes continuamente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7410" y="2400083"/>
            <a:ext cx="6687732" cy="41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402" i="true" b="true">
                <a:solidFill>
                  <a:srgbClr val="242D3B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Una compra simple, rápida y segura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117763" y="440308"/>
            <a:ext cx="2725332" cy="71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i="true" b="true">
                <a:solidFill>
                  <a:srgbClr val="242D3B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La clienta completa </a:t>
            </a:r>
          </a:p>
          <a:p>
            <a:pPr algn="l">
              <a:lnSpc>
                <a:spcPts val="2803"/>
              </a:lnSpc>
            </a:pPr>
            <a:r>
              <a:rPr lang="en-US" sz="2002" i="true" b="true">
                <a:solidFill>
                  <a:srgbClr val="242D3B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sus datos y listo!</a:t>
            </a:r>
          </a:p>
        </p:txBody>
      </p:sp>
      <p:grpSp>
        <p:nvGrpSpPr>
          <p:cNvPr name="Group 50" id="50"/>
          <p:cNvGrpSpPr/>
          <p:nvPr/>
        </p:nvGrpSpPr>
        <p:grpSpPr>
          <a:xfrm rot="-10797520">
            <a:off x="9423716" y="8992708"/>
            <a:ext cx="2964894" cy="897642"/>
            <a:chOff x="0" y="0"/>
            <a:chExt cx="780877" cy="2364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80877" cy="236416"/>
            </a:xfrm>
            <a:custGeom>
              <a:avLst/>
              <a:gdLst/>
              <a:ahLst/>
              <a:cxnLst/>
              <a:rect r="r" b="b" t="t" l="l"/>
              <a:pathLst>
                <a:path h="236416" w="780877">
                  <a:moveTo>
                    <a:pt x="67891" y="0"/>
                  </a:moveTo>
                  <a:lnTo>
                    <a:pt x="712986" y="0"/>
                  </a:lnTo>
                  <a:cubicBezTo>
                    <a:pt x="750482" y="0"/>
                    <a:pt x="780877" y="30396"/>
                    <a:pt x="780877" y="67891"/>
                  </a:cubicBezTo>
                  <a:lnTo>
                    <a:pt x="780877" y="168525"/>
                  </a:lnTo>
                  <a:cubicBezTo>
                    <a:pt x="780877" y="206020"/>
                    <a:pt x="750482" y="236416"/>
                    <a:pt x="712986" y="236416"/>
                  </a:cubicBezTo>
                  <a:lnTo>
                    <a:pt x="67891" y="236416"/>
                  </a:lnTo>
                  <a:cubicBezTo>
                    <a:pt x="30396" y="236416"/>
                    <a:pt x="0" y="206020"/>
                    <a:pt x="0" y="168525"/>
                  </a:cubicBezTo>
                  <a:lnTo>
                    <a:pt x="0" y="67891"/>
                  </a:lnTo>
                  <a:cubicBezTo>
                    <a:pt x="0" y="30396"/>
                    <a:pt x="30396" y="0"/>
                    <a:pt x="67891" y="0"/>
                  </a:cubicBezTo>
                  <a:close/>
                </a:path>
              </a:pathLst>
            </a:custGeom>
            <a:solidFill>
              <a:srgbClr val="DAE3EA">
                <a:alpha val="23922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780877" cy="29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-4008964">
            <a:off x="12237074" y="9099402"/>
            <a:ext cx="999319" cy="329775"/>
          </a:xfrm>
          <a:custGeom>
            <a:avLst/>
            <a:gdLst/>
            <a:ahLst/>
            <a:cxnLst/>
            <a:rect r="r" b="b" t="t" l="l"/>
            <a:pathLst>
              <a:path h="329775" w="999319">
                <a:moveTo>
                  <a:pt x="0" y="0"/>
                </a:moveTo>
                <a:lnTo>
                  <a:pt x="999320" y="0"/>
                </a:lnTo>
                <a:lnTo>
                  <a:pt x="999320" y="329775"/>
                </a:lnTo>
                <a:lnTo>
                  <a:pt x="0" y="32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9532212" y="9080934"/>
            <a:ext cx="2856242" cy="63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i="true" b="true">
                <a:solidFill>
                  <a:srgbClr val="242D3B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Visualiza sus productos y el tiempo restante para pagar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205740" y="841040"/>
            <a:ext cx="12608500" cy="2834136"/>
            <a:chOff x="0" y="0"/>
            <a:chExt cx="1030705" cy="2316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0705" cy="231682"/>
            </a:xfrm>
            <a:custGeom>
              <a:avLst/>
              <a:gdLst/>
              <a:ahLst/>
              <a:cxnLst/>
              <a:rect r="r" b="b" t="t" l="l"/>
              <a:pathLst>
                <a:path h="231682" w="1030705">
                  <a:moveTo>
                    <a:pt x="827505" y="0"/>
                  </a:moveTo>
                  <a:cubicBezTo>
                    <a:pt x="939729" y="0"/>
                    <a:pt x="1030705" y="51864"/>
                    <a:pt x="1030705" y="115841"/>
                  </a:cubicBezTo>
                  <a:cubicBezTo>
                    <a:pt x="1030705" y="179818"/>
                    <a:pt x="939729" y="231682"/>
                    <a:pt x="827505" y="231682"/>
                  </a:cubicBezTo>
                  <a:lnTo>
                    <a:pt x="203200" y="231682"/>
                  </a:lnTo>
                  <a:cubicBezTo>
                    <a:pt x="90976" y="231682"/>
                    <a:pt x="0" y="179818"/>
                    <a:pt x="0" y="115841"/>
                  </a:cubicBezTo>
                  <a:cubicBezTo>
                    <a:pt x="0" y="5186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030705" cy="288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0120081" y="6491261"/>
            <a:ext cx="7745798" cy="3872899"/>
          </a:xfrm>
          <a:custGeom>
            <a:avLst/>
            <a:gdLst/>
            <a:ahLst/>
            <a:cxnLst/>
            <a:rect r="r" b="b" t="t" l="l"/>
            <a:pathLst>
              <a:path h="3872899" w="7745798">
                <a:moveTo>
                  <a:pt x="0" y="0"/>
                </a:moveTo>
                <a:lnTo>
                  <a:pt x="7745798" y="0"/>
                </a:lnTo>
                <a:lnTo>
                  <a:pt x="7745798" y="3872899"/>
                </a:lnTo>
                <a:lnTo>
                  <a:pt x="0" y="3872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25977" y="1469066"/>
            <a:ext cx="6546139" cy="654613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DAE4">
                <a:alpha val="4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030573" y="2028170"/>
            <a:ext cx="7911315" cy="5459591"/>
            <a:chOff x="0" y="0"/>
            <a:chExt cx="12827000" cy="8851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59410" y="1016000"/>
              <a:ext cx="12146298" cy="7500620"/>
            </a:xfrm>
            <a:custGeom>
              <a:avLst/>
              <a:gdLst/>
              <a:ahLst/>
              <a:cxnLst/>
              <a:rect r="r" b="b" t="t" l="l"/>
              <a:pathLst>
                <a:path h="7500620" w="12146298">
                  <a:moveTo>
                    <a:pt x="12006580" y="7500620"/>
                  </a:moveTo>
                  <a:lnTo>
                    <a:pt x="170180" y="7500620"/>
                  </a:lnTo>
                  <a:cubicBezTo>
                    <a:pt x="77470" y="7500620"/>
                    <a:pt x="0" y="7425689"/>
                    <a:pt x="0" y="7330439"/>
                  </a:cubicBezTo>
                  <a:lnTo>
                    <a:pt x="0" y="0"/>
                  </a:lnTo>
                  <a:lnTo>
                    <a:pt x="12146280" y="0"/>
                  </a:lnTo>
                  <a:lnTo>
                    <a:pt x="12146280" y="7359650"/>
                  </a:lnTo>
                  <a:cubicBezTo>
                    <a:pt x="12147550" y="7438390"/>
                    <a:pt x="12082780" y="7500620"/>
                    <a:pt x="12006580" y="7500620"/>
                  </a:cubicBezTo>
                  <a:close/>
                </a:path>
              </a:pathLst>
            </a:custGeom>
            <a:blipFill>
              <a:blip r:embed="rId4"/>
              <a:stretch>
                <a:fillRect l="-1032" t="0" r="-1032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27000" cy="8851900"/>
            </a:xfrm>
            <a:custGeom>
              <a:avLst/>
              <a:gdLst/>
              <a:ahLst/>
              <a:cxnLst/>
              <a:rect r="r" b="b" t="t" l="l"/>
              <a:pathLst>
                <a:path h="8851900" w="12827000">
                  <a:moveTo>
                    <a:pt x="0" y="0"/>
                  </a:moveTo>
                  <a:lnTo>
                    <a:pt x="12827000" y="0"/>
                  </a:lnTo>
                  <a:lnTo>
                    <a:pt x="12827000" y="8851900"/>
                  </a:lnTo>
                  <a:lnTo>
                    <a:pt x="0" y="8851900"/>
                  </a:lnTo>
                  <a:close/>
                </a:path>
              </a:pathLst>
            </a:custGeom>
          </p:spPr>
        </p:sp>
      </p:grpSp>
      <p:grpSp>
        <p:nvGrpSpPr>
          <p:cNvPr name="Group 12" id="12"/>
          <p:cNvGrpSpPr/>
          <p:nvPr/>
        </p:nvGrpSpPr>
        <p:grpSpPr>
          <a:xfrm rot="0">
            <a:off x="8192220" y="1623654"/>
            <a:ext cx="1368834" cy="138554"/>
            <a:chOff x="0" y="0"/>
            <a:chExt cx="360516" cy="364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0516" cy="36492"/>
            </a:xfrm>
            <a:custGeom>
              <a:avLst/>
              <a:gdLst/>
              <a:ahLst/>
              <a:cxnLst/>
              <a:rect r="r" b="b" t="t" l="l"/>
              <a:pathLst>
                <a:path h="36492" w="360516">
                  <a:moveTo>
                    <a:pt x="0" y="0"/>
                  </a:moveTo>
                  <a:lnTo>
                    <a:pt x="360516" y="0"/>
                  </a:lnTo>
                  <a:lnTo>
                    <a:pt x="360516" y="36492"/>
                  </a:lnTo>
                  <a:lnTo>
                    <a:pt x="0" y="36492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60516" cy="93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0694" y="3799002"/>
            <a:ext cx="829560" cy="815957"/>
            <a:chOff x="0" y="0"/>
            <a:chExt cx="218485" cy="2149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0694" y="4735521"/>
            <a:ext cx="829560" cy="815957"/>
            <a:chOff x="0" y="0"/>
            <a:chExt cx="218485" cy="2149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6509" y="5675304"/>
            <a:ext cx="829560" cy="815957"/>
            <a:chOff x="0" y="0"/>
            <a:chExt cx="218485" cy="2149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6509" y="6615086"/>
            <a:ext cx="829560" cy="815957"/>
            <a:chOff x="0" y="0"/>
            <a:chExt cx="218485" cy="2149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29602" y="3974719"/>
            <a:ext cx="302291" cy="516737"/>
          </a:xfrm>
          <a:custGeom>
            <a:avLst/>
            <a:gdLst/>
            <a:ahLst/>
            <a:cxnLst/>
            <a:rect r="r" b="b" t="t" l="l"/>
            <a:pathLst>
              <a:path h="516737" w="302291">
                <a:moveTo>
                  <a:pt x="0" y="0"/>
                </a:moveTo>
                <a:lnTo>
                  <a:pt x="302291" y="0"/>
                </a:lnTo>
                <a:lnTo>
                  <a:pt x="302291" y="516737"/>
                </a:lnTo>
                <a:lnTo>
                  <a:pt x="0" y="516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07627" y="4921752"/>
            <a:ext cx="515694" cy="443497"/>
          </a:xfrm>
          <a:custGeom>
            <a:avLst/>
            <a:gdLst/>
            <a:ahLst/>
            <a:cxnLst/>
            <a:rect r="r" b="b" t="t" l="l"/>
            <a:pathLst>
              <a:path h="443497" w="515694">
                <a:moveTo>
                  <a:pt x="0" y="0"/>
                </a:moveTo>
                <a:lnTo>
                  <a:pt x="515694" y="0"/>
                </a:lnTo>
                <a:lnTo>
                  <a:pt x="515694" y="443496"/>
                </a:lnTo>
                <a:lnTo>
                  <a:pt x="0" y="443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82038" y="5804641"/>
            <a:ext cx="598503" cy="598503"/>
          </a:xfrm>
          <a:custGeom>
            <a:avLst/>
            <a:gdLst/>
            <a:ahLst/>
            <a:cxnLst/>
            <a:rect r="r" b="b" t="t" l="l"/>
            <a:pathLst>
              <a:path h="598503" w="598503">
                <a:moveTo>
                  <a:pt x="0" y="0"/>
                </a:moveTo>
                <a:lnTo>
                  <a:pt x="598503" y="0"/>
                </a:lnTo>
                <a:lnTo>
                  <a:pt x="598503" y="598504"/>
                </a:lnTo>
                <a:lnTo>
                  <a:pt x="0" y="5985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82038" y="6748436"/>
            <a:ext cx="598503" cy="598503"/>
          </a:xfrm>
          <a:custGeom>
            <a:avLst/>
            <a:gdLst/>
            <a:ahLst/>
            <a:cxnLst/>
            <a:rect r="r" b="b" t="t" l="l"/>
            <a:pathLst>
              <a:path h="598503" w="598503">
                <a:moveTo>
                  <a:pt x="0" y="0"/>
                </a:moveTo>
                <a:lnTo>
                  <a:pt x="598503" y="0"/>
                </a:lnTo>
                <a:lnTo>
                  <a:pt x="598503" y="598503"/>
                </a:lnTo>
                <a:lnTo>
                  <a:pt x="0" y="5985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194555" y="3961120"/>
            <a:ext cx="8404548" cy="3193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stado de cada producto en tiempo real.</a:t>
            </a:r>
          </a:p>
          <a:p>
            <a:pPr algn="l">
              <a:lnSpc>
                <a:spcPts val="3663"/>
              </a:lnSpc>
            </a:pPr>
          </a:p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omentarios del live y su asignacion</a:t>
            </a:r>
          </a:p>
          <a:p>
            <a:pPr algn="l">
              <a:lnSpc>
                <a:spcPts val="3663"/>
              </a:lnSpc>
            </a:pPr>
          </a:p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oton para copiar el link y enviarlo. </a:t>
            </a:r>
          </a:p>
          <a:p>
            <a:pPr algn="l">
              <a:lnSpc>
                <a:spcPts val="3663"/>
              </a:lnSpc>
            </a:pPr>
          </a:p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Herramientas de gestion.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6708" y="1962233"/>
            <a:ext cx="9107252" cy="150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1"/>
              </a:lnSpc>
            </a:pPr>
            <a:r>
              <a:rPr lang="en-US" sz="11176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VISTA VENDEDORA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66708" y="7697310"/>
            <a:ext cx="11304783" cy="2110314"/>
            <a:chOff x="0" y="0"/>
            <a:chExt cx="2977391" cy="5558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77391" cy="555803"/>
            </a:xfrm>
            <a:custGeom>
              <a:avLst/>
              <a:gdLst/>
              <a:ahLst/>
              <a:cxnLst/>
              <a:rect r="r" b="b" t="t" l="l"/>
              <a:pathLst>
                <a:path h="555803" w="2977391">
                  <a:moveTo>
                    <a:pt x="17806" y="0"/>
                  </a:moveTo>
                  <a:lnTo>
                    <a:pt x="2959586" y="0"/>
                  </a:lnTo>
                  <a:cubicBezTo>
                    <a:pt x="2969420" y="0"/>
                    <a:pt x="2977391" y="7972"/>
                    <a:pt x="2977391" y="17806"/>
                  </a:cubicBezTo>
                  <a:lnTo>
                    <a:pt x="2977391" y="537997"/>
                  </a:lnTo>
                  <a:cubicBezTo>
                    <a:pt x="2977391" y="547831"/>
                    <a:pt x="2969420" y="555803"/>
                    <a:pt x="2959586" y="555803"/>
                  </a:cubicBezTo>
                  <a:lnTo>
                    <a:pt x="17806" y="555803"/>
                  </a:lnTo>
                  <a:cubicBezTo>
                    <a:pt x="7972" y="555803"/>
                    <a:pt x="0" y="547831"/>
                    <a:pt x="0" y="537997"/>
                  </a:cubicBezTo>
                  <a:lnTo>
                    <a:pt x="0" y="17806"/>
                  </a:lnTo>
                  <a:cubicBezTo>
                    <a:pt x="0" y="7972"/>
                    <a:pt x="7972" y="0"/>
                    <a:pt x="17806" y="0"/>
                  </a:cubicBezTo>
                  <a:close/>
                </a:path>
              </a:pathLst>
            </a:custGeom>
            <a:solidFill>
              <a:srgbClr val="DAE3E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2977391" cy="612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758208" y="8214602"/>
            <a:ext cx="5854981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893" b="true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CONTROL TOTAL DEL LIVE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58208" y="8660334"/>
            <a:ext cx="6687732" cy="63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 i="true">
                <a:solidFill>
                  <a:srgbClr val="54545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la vendedora ve cada asignacion mienstras transmite sin necesidad de presionar nada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9800" y="3047414"/>
            <a:ext cx="5189079" cy="41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 i="true">
                <a:solidFill>
                  <a:srgbClr val="737373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Control total del live en un solo lugar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28700" y="8011633"/>
            <a:ext cx="1547224" cy="1392651"/>
            <a:chOff x="0" y="0"/>
            <a:chExt cx="407499" cy="36678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7499" cy="366789"/>
            </a:xfrm>
            <a:custGeom>
              <a:avLst/>
              <a:gdLst/>
              <a:ahLst/>
              <a:cxnLst/>
              <a:rect r="r" b="b" t="t" l="l"/>
              <a:pathLst>
                <a:path h="366789" w="407499">
                  <a:moveTo>
                    <a:pt x="130097" y="0"/>
                  </a:moveTo>
                  <a:lnTo>
                    <a:pt x="277402" y="0"/>
                  </a:lnTo>
                  <a:cubicBezTo>
                    <a:pt x="349253" y="0"/>
                    <a:pt x="407499" y="58247"/>
                    <a:pt x="407499" y="130097"/>
                  </a:cubicBezTo>
                  <a:lnTo>
                    <a:pt x="407499" y="236691"/>
                  </a:lnTo>
                  <a:cubicBezTo>
                    <a:pt x="407499" y="308542"/>
                    <a:pt x="349253" y="366789"/>
                    <a:pt x="277402" y="366789"/>
                  </a:cubicBezTo>
                  <a:lnTo>
                    <a:pt x="130097" y="366789"/>
                  </a:lnTo>
                  <a:cubicBezTo>
                    <a:pt x="95593" y="366789"/>
                    <a:pt x="62503" y="353082"/>
                    <a:pt x="38105" y="328684"/>
                  </a:cubicBezTo>
                  <a:cubicBezTo>
                    <a:pt x="13707" y="304286"/>
                    <a:pt x="0" y="271195"/>
                    <a:pt x="0" y="236691"/>
                  </a:cubicBezTo>
                  <a:lnTo>
                    <a:pt x="0" y="130097"/>
                  </a:lnTo>
                  <a:cubicBezTo>
                    <a:pt x="0" y="58247"/>
                    <a:pt x="58247" y="0"/>
                    <a:pt x="130097" y="0"/>
                  </a:cubicBezTo>
                  <a:close/>
                </a:path>
              </a:pathLst>
            </a:custGeom>
            <a:solidFill>
              <a:srgbClr val="8C8FA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407499" cy="423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245281" y="8251193"/>
            <a:ext cx="1114063" cy="913531"/>
          </a:xfrm>
          <a:custGeom>
            <a:avLst/>
            <a:gdLst/>
            <a:ahLst/>
            <a:cxnLst/>
            <a:rect r="r" b="b" t="t" l="l"/>
            <a:pathLst>
              <a:path h="913531" w="1114063">
                <a:moveTo>
                  <a:pt x="0" y="0"/>
                </a:moveTo>
                <a:lnTo>
                  <a:pt x="1114062" y="0"/>
                </a:lnTo>
                <a:lnTo>
                  <a:pt x="1114062" y="913531"/>
                </a:lnTo>
                <a:lnTo>
                  <a:pt x="0" y="9135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9873960" y="8184952"/>
            <a:ext cx="5854981" cy="109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893" b="true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+ AGILIDAD </a:t>
            </a:r>
          </a:p>
          <a:p>
            <a:pPr algn="l">
              <a:lnSpc>
                <a:spcPts val="2806"/>
              </a:lnSpc>
            </a:pPr>
            <a:r>
              <a:rPr lang="en-US" b="true" sz="2893" i="true">
                <a:solidFill>
                  <a:srgbClr val="242D3B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- ERRORES  </a:t>
            </a:r>
          </a:p>
          <a:p>
            <a:pPr algn="l">
              <a:lnSpc>
                <a:spcPts val="2806"/>
              </a:lnSpc>
            </a:pPr>
            <a:r>
              <a:rPr lang="en-US" sz="2893" b="true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+ FOCO</a:t>
            </a:r>
          </a:p>
        </p:txBody>
      </p:sp>
      <p:grpSp>
        <p:nvGrpSpPr>
          <p:cNvPr name="Group 44" id="44"/>
          <p:cNvGrpSpPr/>
          <p:nvPr/>
        </p:nvGrpSpPr>
        <p:grpSpPr>
          <a:xfrm rot="-5400000">
            <a:off x="8746900" y="8671577"/>
            <a:ext cx="1407280" cy="82473"/>
            <a:chOff x="0" y="0"/>
            <a:chExt cx="370642" cy="2172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0642" cy="21721"/>
            </a:xfrm>
            <a:custGeom>
              <a:avLst/>
              <a:gdLst/>
              <a:ahLst/>
              <a:cxnLst/>
              <a:rect r="r" b="b" t="t" l="l"/>
              <a:pathLst>
                <a:path h="21721" w="370642">
                  <a:moveTo>
                    <a:pt x="0" y="0"/>
                  </a:moveTo>
                  <a:lnTo>
                    <a:pt x="370642" y="0"/>
                  </a:lnTo>
                  <a:lnTo>
                    <a:pt x="370642" y="21721"/>
                  </a:lnTo>
                  <a:lnTo>
                    <a:pt x="0" y="21721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370642" cy="78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023759" y="-2201278"/>
            <a:ext cx="7119377" cy="6321402"/>
            <a:chOff x="0" y="0"/>
            <a:chExt cx="581986" cy="5167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986" cy="516755"/>
            </a:xfrm>
            <a:custGeom>
              <a:avLst/>
              <a:gdLst/>
              <a:ahLst/>
              <a:cxnLst/>
              <a:rect r="r" b="b" t="t" l="l"/>
              <a:pathLst>
                <a:path h="516755" w="581986">
                  <a:moveTo>
                    <a:pt x="378786" y="0"/>
                  </a:moveTo>
                  <a:cubicBezTo>
                    <a:pt x="491011" y="0"/>
                    <a:pt x="581986" y="115679"/>
                    <a:pt x="581986" y="258377"/>
                  </a:cubicBezTo>
                  <a:cubicBezTo>
                    <a:pt x="581986" y="401075"/>
                    <a:pt x="491011" y="516755"/>
                    <a:pt x="378786" y="516755"/>
                  </a:cubicBezTo>
                  <a:lnTo>
                    <a:pt x="203200" y="516755"/>
                  </a:lnTo>
                  <a:cubicBezTo>
                    <a:pt x="90976" y="516755"/>
                    <a:pt x="0" y="401075"/>
                    <a:pt x="0" y="258377"/>
                  </a:cubicBezTo>
                  <a:cubicBezTo>
                    <a:pt x="0" y="11567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81986" cy="573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9263785" y="6970155"/>
            <a:ext cx="8678760" cy="4339380"/>
          </a:xfrm>
          <a:custGeom>
            <a:avLst/>
            <a:gdLst/>
            <a:ahLst/>
            <a:cxnLst/>
            <a:rect r="r" b="b" t="t" l="l"/>
            <a:pathLst>
              <a:path h="4339380" w="8678760">
                <a:moveTo>
                  <a:pt x="0" y="0"/>
                </a:moveTo>
                <a:lnTo>
                  <a:pt x="8678761" y="0"/>
                </a:lnTo>
                <a:lnTo>
                  <a:pt x="8678761" y="4339380"/>
                </a:lnTo>
                <a:lnTo>
                  <a:pt x="0" y="433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50944" y="1459950"/>
            <a:ext cx="7798350" cy="77983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DAE4">
                <a:alpha val="4000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164001" y="2201116"/>
            <a:ext cx="8878329" cy="6126926"/>
            <a:chOff x="0" y="0"/>
            <a:chExt cx="12827000" cy="8851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59410" y="1016000"/>
              <a:ext cx="12146298" cy="7500620"/>
            </a:xfrm>
            <a:custGeom>
              <a:avLst/>
              <a:gdLst/>
              <a:ahLst/>
              <a:cxnLst/>
              <a:rect r="r" b="b" t="t" l="l"/>
              <a:pathLst>
                <a:path h="7500620" w="12146298">
                  <a:moveTo>
                    <a:pt x="12006580" y="7500620"/>
                  </a:moveTo>
                  <a:lnTo>
                    <a:pt x="170180" y="7500620"/>
                  </a:lnTo>
                  <a:cubicBezTo>
                    <a:pt x="77470" y="7500620"/>
                    <a:pt x="0" y="7425689"/>
                    <a:pt x="0" y="7330439"/>
                  </a:cubicBezTo>
                  <a:lnTo>
                    <a:pt x="0" y="0"/>
                  </a:lnTo>
                  <a:lnTo>
                    <a:pt x="12146280" y="0"/>
                  </a:lnTo>
                  <a:lnTo>
                    <a:pt x="12146280" y="7359650"/>
                  </a:lnTo>
                  <a:cubicBezTo>
                    <a:pt x="12147550" y="7438390"/>
                    <a:pt x="12082780" y="7500620"/>
                    <a:pt x="12006580" y="7500620"/>
                  </a:cubicBezTo>
                  <a:close/>
                </a:path>
              </a:pathLst>
            </a:custGeom>
            <a:blipFill>
              <a:blip r:embed="rId4"/>
              <a:stretch>
                <a:fillRect l="-173" t="0" r="-173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27000" cy="8851900"/>
            </a:xfrm>
            <a:custGeom>
              <a:avLst/>
              <a:gdLst/>
              <a:ahLst/>
              <a:cxnLst/>
              <a:rect r="r" b="b" t="t" l="l"/>
              <a:pathLst>
                <a:path h="8851900" w="12827000">
                  <a:moveTo>
                    <a:pt x="0" y="0"/>
                  </a:moveTo>
                  <a:lnTo>
                    <a:pt x="12827000" y="0"/>
                  </a:lnTo>
                  <a:lnTo>
                    <a:pt x="12827000" y="8851900"/>
                  </a:lnTo>
                  <a:lnTo>
                    <a:pt x="0" y="8851900"/>
                  </a:lnTo>
                  <a:close/>
                </a:path>
              </a:pathLst>
            </a:custGeom>
          </p:spPr>
        </p:sp>
      </p:grpSp>
      <p:grpSp>
        <p:nvGrpSpPr>
          <p:cNvPr name="Group 12" id="12"/>
          <p:cNvGrpSpPr/>
          <p:nvPr/>
        </p:nvGrpSpPr>
        <p:grpSpPr>
          <a:xfrm rot="0">
            <a:off x="1670109" y="890146"/>
            <a:ext cx="1368834" cy="138554"/>
            <a:chOff x="0" y="0"/>
            <a:chExt cx="360516" cy="364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0516" cy="36492"/>
            </a:xfrm>
            <a:custGeom>
              <a:avLst/>
              <a:gdLst/>
              <a:ahLst/>
              <a:cxnLst/>
              <a:rect r="r" b="b" t="t" l="l"/>
              <a:pathLst>
                <a:path h="36492" w="360516">
                  <a:moveTo>
                    <a:pt x="0" y="0"/>
                  </a:moveTo>
                  <a:lnTo>
                    <a:pt x="360516" y="0"/>
                  </a:lnTo>
                  <a:lnTo>
                    <a:pt x="360516" y="36492"/>
                  </a:lnTo>
                  <a:lnTo>
                    <a:pt x="0" y="36492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60516" cy="93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9669" y="4273172"/>
            <a:ext cx="829560" cy="815957"/>
            <a:chOff x="0" y="0"/>
            <a:chExt cx="218485" cy="2149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95198" y="4435764"/>
            <a:ext cx="598503" cy="490773"/>
          </a:xfrm>
          <a:custGeom>
            <a:avLst/>
            <a:gdLst/>
            <a:ahLst/>
            <a:cxnLst/>
            <a:rect r="r" b="b" t="t" l="l"/>
            <a:pathLst>
              <a:path h="490773" w="598503">
                <a:moveTo>
                  <a:pt x="0" y="0"/>
                </a:moveTo>
                <a:lnTo>
                  <a:pt x="598503" y="0"/>
                </a:lnTo>
                <a:lnTo>
                  <a:pt x="598503" y="490773"/>
                </a:lnTo>
                <a:lnTo>
                  <a:pt x="0" y="490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79669" y="5204886"/>
            <a:ext cx="829560" cy="815957"/>
            <a:chOff x="0" y="0"/>
            <a:chExt cx="218485" cy="2149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79669" y="6135143"/>
            <a:ext cx="829560" cy="815957"/>
            <a:chOff x="0" y="0"/>
            <a:chExt cx="218485" cy="2149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8485" cy="214902"/>
            </a:xfrm>
            <a:custGeom>
              <a:avLst/>
              <a:gdLst/>
              <a:ahLst/>
              <a:cxnLst/>
              <a:rect r="r" b="b" t="t" l="l"/>
              <a:pathLst>
                <a:path h="214902" w="218485">
                  <a:moveTo>
                    <a:pt x="107451" y="0"/>
                  </a:moveTo>
                  <a:lnTo>
                    <a:pt x="111034" y="0"/>
                  </a:lnTo>
                  <a:cubicBezTo>
                    <a:pt x="170378" y="0"/>
                    <a:pt x="218485" y="48108"/>
                    <a:pt x="218485" y="107451"/>
                  </a:cubicBezTo>
                  <a:lnTo>
                    <a:pt x="218485" y="107451"/>
                  </a:lnTo>
                  <a:cubicBezTo>
                    <a:pt x="218485" y="135949"/>
                    <a:pt x="207164" y="163280"/>
                    <a:pt x="187013" y="183431"/>
                  </a:cubicBezTo>
                  <a:cubicBezTo>
                    <a:pt x="166862" y="203582"/>
                    <a:pt x="139532" y="214902"/>
                    <a:pt x="111034" y="214902"/>
                  </a:cubicBezTo>
                  <a:lnTo>
                    <a:pt x="107451" y="214902"/>
                  </a:lnTo>
                  <a:cubicBezTo>
                    <a:pt x="48108" y="214902"/>
                    <a:pt x="0" y="166795"/>
                    <a:pt x="0" y="107451"/>
                  </a:cubicBezTo>
                  <a:lnTo>
                    <a:pt x="0" y="107451"/>
                  </a:lnTo>
                  <a:cubicBezTo>
                    <a:pt x="0" y="48108"/>
                    <a:pt x="48108" y="0"/>
                    <a:pt x="107451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218485" cy="27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94137" y="5379943"/>
            <a:ext cx="400624" cy="465842"/>
          </a:xfrm>
          <a:custGeom>
            <a:avLst/>
            <a:gdLst/>
            <a:ahLst/>
            <a:cxnLst/>
            <a:rect r="r" b="b" t="t" l="l"/>
            <a:pathLst>
              <a:path h="465842" w="400624">
                <a:moveTo>
                  <a:pt x="0" y="0"/>
                </a:moveTo>
                <a:lnTo>
                  <a:pt x="400625" y="0"/>
                </a:lnTo>
                <a:lnTo>
                  <a:pt x="400625" y="465843"/>
                </a:lnTo>
                <a:lnTo>
                  <a:pt x="0" y="465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18442" y="6284288"/>
            <a:ext cx="352014" cy="517667"/>
          </a:xfrm>
          <a:custGeom>
            <a:avLst/>
            <a:gdLst/>
            <a:ahLst/>
            <a:cxnLst/>
            <a:rect r="r" b="b" t="t" l="l"/>
            <a:pathLst>
              <a:path h="517667" w="352014">
                <a:moveTo>
                  <a:pt x="0" y="0"/>
                </a:moveTo>
                <a:lnTo>
                  <a:pt x="352014" y="0"/>
                </a:lnTo>
                <a:lnTo>
                  <a:pt x="352014" y="517667"/>
                </a:lnTo>
                <a:lnTo>
                  <a:pt x="0" y="5176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76032" y="7626895"/>
            <a:ext cx="7004405" cy="1512950"/>
            <a:chOff x="0" y="0"/>
            <a:chExt cx="1844781" cy="3984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44781" cy="398472"/>
            </a:xfrm>
            <a:custGeom>
              <a:avLst/>
              <a:gdLst/>
              <a:ahLst/>
              <a:cxnLst/>
              <a:rect r="r" b="b" t="t" l="l"/>
              <a:pathLst>
                <a:path h="398472" w="1844781">
                  <a:moveTo>
                    <a:pt x="28738" y="0"/>
                  </a:moveTo>
                  <a:lnTo>
                    <a:pt x="1816044" y="0"/>
                  </a:lnTo>
                  <a:cubicBezTo>
                    <a:pt x="1823665" y="0"/>
                    <a:pt x="1830975" y="3028"/>
                    <a:pt x="1836364" y="8417"/>
                  </a:cubicBezTo>
                  <a:cubicBezTo>
                    <a:pt x="1841754" y="13806"/>
                    <a:pt x="1844781" y="21116"/>
                    <a:pt x="1844781" y="28738"/>
                  </a:cubicBezTo>
                  <a:lnTo>
                    <a:pt x="1844781" y="369735"/>
                  </a:lnTo>
                  <a:cubicBezTo>
                    <a:pt x="1844781" y="385606"/>
                    <a:pt x="1831915" y="398472"/>
                    <a:pt x="1816044" y="398472"/>
                  </a:cubicBezTo>
                  <a:lnTo>
                    <a:pt x="28738" y="398472"/>
                  </a:lnTo>
                  <a:cubicBezTo>
                    <a:pt x="21116" y="398472"/>
                    <a:pt x="13806" y="395445"/>
                    <a:pt x="8417" y="390055"/>
                  </a:cubicBezTo>
                  <a:cubicBezTo>
                    <a:pt x="3028" y="384666"/>
                    <a:pt x="0" y="377357"/>
                    <a:pt x="0" y="369735"/>
                  </a:cubicBezTo>
                  <a:lnTo>
                    <a:pt x="0" y="28738"/>
                  </a:lnTo>
                  <a:cubicBezTo>
                    <a:pt x="0" y="21116"/>
                    <a:pt x="3028" y="13806"/>
                    <a:pt x="8417" y="8417"/>
                  </a:cubicBezTo>
                  <a:cubicBezTo>
                    <a:pt x="13806" y="3028"/>
                    <a:pt x="21116" y="0"/>
                    <a:pt x="28738" y="0"/>
                  </a:cubicBez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844781" cy="455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79669" y="7863452"/>
            <a:ext cx="1090440" cy="1090440"/>
          </a:xfrm>
          <a:custGeom>
            <a:avLst/>
            <a:gdLst/>
            <a:ahLst/>
            <a:cxnLst/>
            <a:rect r="r" b="b" t="t" l="l"/>
            <a:pathLst>
              <a:path h="1090440" w="1090440">
                <a:moveTo>
                  <a:pt x="0" y="0"/>
                </a:moveTo>
                <a:lnTo>
                  <a:pt x="1090440" y="0"/>
                </a:lnTo>
                <a:lnTo>
                  <a:pt x="1090440" y="1090440"/>
                </a:lnTo>
                <a:lnTo>
                  <a:pt x="0" y="10904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-89708" y="1228725"/>
            <a:ext cx="9107252" cy="150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1"/>
              </a:lnSpc>
            </a:pPr>
            <a:r>
              <a:rPr lang="en-US" sz="11176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 DASHBOARD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7064" y="4433386"/>
            <a:ext cx="8404548" cy="273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KPIs por 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transmision y consolidado mensual.</a:t>
            </a:r>
          </a:p>
          <a:p>
            <a:pPr algn="l">
              <a:lnSpc>
                <a:spcPts val="3663"/>
              </a:lnSpc>
            </a:pPr>
          </a:p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asa de conversion y tiempo de pago.</a:t>
            </a:r>
          </a:p>
          <a:p>
            <a:pPr algn="l">
              <a:lnSpc>
                <a:spcPts val="3663"/>
              </a:lnSpc>
            </a:pPr>
          </a:p>
          <a:p>
            <a:pPr algn="l">
              <a:lnSpc>
                <a:spcPts val="3663"/>
              </a:lnSpc>
            </a:pP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2442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ecnologia emergente: analisis descriptivo (BI).</a:t>
            </a:r>
          </a:p>
          <a:p>
            <a:pPr algn="ctr">
              <a:lnSpc>
                <a:spcPts val="3663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903771" y="8060049"/>
            <a:ext cx="4443280" cy="40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0"/>
              </a:lnSpc>
            </a:pPr>
            <a:r>
              <a:rPr lang="en-US" b="true" sz="3000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DECISIONES CON DATOS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03771" y="8414454"/>
            <a:ext cx="3661930" cy="320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3"/>
              </a:lnSpc>
            </a:pPr>
            <a:r>
              <a:rPr lang="en-US" b="true" sz="1802" i="true">
                <a:solidFill>
                  <a:srgbClr val="242D3B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resultados listos al termino del live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2340707"/>
            <a:ext cx="5854981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b="true" sz="2893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NEGOCIO EN TIEMPO REAL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69304" y="1238250"/>
            <a:ext cx="11149391" cy="270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6"/>
              </a:lnSpc>
            </a:pPr>
            <a:r>
              <a:rPr lang="en-US" sz="11508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OBJETIVOS DEL </a:t>
            </a:r>
            <a:r>
              <a:rPr lang="en-US" sz="11508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proyecto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1563" y="5216978"/>
            <a:ext cx="1717199" cy="9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499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MODELO DE DATOS</a:t>
            </a:r>
          </a:p>
        </p:txBody>
      </p:sp>
      <p:sp>
        <p:nvSpPr>
          <p:cNvPr name="AutoShape 4" id="4"/>
          <p:cNvSpPr/>
          <p:nvPr/>
        </p:nvSpPr>
        <p:spPr>
          <a:xfrm>
            <a:off x="2953537" y="5767056"/>
            <a:ext cx="1445494" cy="0"/>
          </a:xfrm>
          <a:prstGeom prst="line">
            <a:avLst/>
          </a:prstGeom>
          <a:ln cap="flat" w="38100">
            <a:solidFill>
              <a:srgbClr val="242D3B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-2883904" y="9540804"/>
            <a:ext cx="23784504" cy="12945716"/>
            <a:chOff x="0" y="0"/>
            <a:chExt cx="1398757" cy="761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8757" cy="761333"/>
            </a:xfrm>
            <a:custGeom>
              <a:avLst/>
              <a:gdLst/>
              <a:ahLst/>
              <a:cxnLst/>
              <a:rect r="r" b="b" t="t" l="l"/>
              <a:pathLst>
                <a:path h="761333" w="1398757">
                  <a:moveTo>
                    <a:pt x="699379" y="0"/>
                  </a:moveTo>
                  <a:cubicBezTo>
                    <a:pt x="313123" y="0"/>
                    <a:pt x="0" y="170430"/>
                    <a:pt x="0" y="380666"/>
                  </a:cubicBezTo>
                  <a:cubicBezTo>
                    <a:pt x="0" y="590902"/>
                    <a:pt x="313123" y="761333"/>
                    <a:pt x="699379" y="761333"/>
                  </a:cubicBezTo>
                  <a:cubicBezTo>
                    <a:pt x="1085635" y="761333"/>
                    <a:pt x="1398757" y="590902"/>
                    <a:pt x="1398757" y="380666"/>
                  </a:cubicBezTo>
                  <a:cubicBezTo>
                    <a:pt x="1398757" y="170430"/>
                    <a:pt x="1085635" y="0"/>
                    <a:pt x="699379" y="0"/>
                  </a:cubicBez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1134" y="14225"/>
              <a:ext cx="1136490" cy="675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0827" y="6186861"/>
            <a:ext cx="3195597" cy="2582418"/>
            <a:chOff x="0" y="0"/>
            <a:chExt cx="783749" cy="6333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3749" cy="633361"/>
            </a:xfrm>
            <a:custGeom>
              <a:avLst/>
              <a:gdLst/>
              <a:ahLst/>
              <a:cxnLst/>
              <a:rect r="r" b="b" t="t" l="l"/>
              <a:pathLst>
                <a:path h="633361" w="783749">
                  <a:moveTo>
                    <a:pt x="0" y="0"/>
                  </a:moveTo>
                  <a:lnTo>
                    <a:pt x="783749" y="0"/>
                  </a:lnTo>
                  <a:lnTo>
                    <a:pt x="783749" y="633361"/>
                  </a:lnTo>
                  <a:lnTo>
                    <a:pt x="0" y="633361"/>
                  </a:lnTo>
                  <a:close/>
                </a:path>
              </a:pathLst>
            </a:custGeom>
            <a:solidFill>
              <a:srgbClr val="9EA3BB">
                <a:alpha val="4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83749" cy="690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653525" y="5750416"/>
            <a:ext cx="1445494" cy="0"/>
          </a:xfrm>
          <a:prstGeom prst="line">
            <a:avLst/>
          </a:prstGeom>
          <a:ln cap="flat" w="38100">
            <a:solidFill>
              <a:srgbClr val="242D3B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>
            <a:off x="10443639" y="5721878"/>
            <a:ext cx="1445494" cy="0"/>
          </a:xfrm>
          <a:prstGeom prst="line">
            <a:avLst/>
          </a:prstGeom>
          <a:ln cap="flat" w="38100">
            <a:solidFill>
              <a:srgbClr val="242D3B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>
            <a:off x="14061491" y="5759903"/>
            <a:ext cx="1445494" cy="0"/>
          </a:xfrm>
          <a:prstGeom prst="line">
            <a:avLst/>
          </a:prstGeom>
          <a:ln cap="flat" w="38100">
            <a:solidFill>
              <a:srgbClr val="242D3B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4083149" y="6186861"/>
            <a:ext cx="3163268" cy="2582418"/>
            <a:chOff x="0" y="0"/>
            <a:chExt cx="775820" cy="6333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5820" cy="633361"/>
            </a:xfrm>
            <a:custGeom>
              <a:avLst/>
              <a:gdLst/>
              <a:ahLst/>
              <a:cxnLst/>
              <a:rect r="r" b="b" t="t" l="l"/>
              <a:pathLst>
                <a:path h="633361" w="775820">
                  <a:moveTo>
                    <a:pt x="0" y="0"/>
                  </a:moveTo>
                  <a:lnTo>
                    <a:pt x="775820" y="0"/>
                  </a:lnTo>
                  <a:lnTo>
                    <a:pt x="775820" y="633361"/>
                  </a:lnTo>
                  <a:lnTo>
                    <a:pt x="0" y="633361"/>
                  </a:lnTo>
                  <a:close/>
                </a:path>
              </a:pathLst>
            </a:custGeom>
            <a:solidFill>
              <a:srgbClr val="9EA3BB">
                <a:alpha val="48627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75820" cy="690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12793" y="6186861"/>
            <a:ext cx="3163268" cy="2582418"/>
            <a:chOff x="0" y="0"/>
            <a:chExt cx="775820" cy="6333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5820" cy="633361"/>
            </a:xfrm>
            <a:custGeom>
              <a:avLst/>
              <a:gdLst/>
              <a:ahLst/>
              <a:cxnLst/>
              <a:rect r="r" b="b" t="t" l="l"/>
              <a:pathLst>
                <a:path h="633361" w="775820">
                  <a:moveTo>
                    <a:pt x="0" y="0"/>
                  </a:moveTo>
                  <a:lnTo>
                    <a:pt x="775820" y="0"/>
                  </a:lnTo>
                  <a:lnTo>
                    <a:pt x="775820" y="633361"/>
                  </a:lnTo>
                  <a:lnTo>
                    <a:pt x="0" y="633361"/>
                  </a:lnTo>
                  <a:close/>
                </a:path>
              </a:pathLst>
            </a:custGeom>
            <a:solidFill>
              <a:srgbClr val="9EA3BB">
                <a:alpha val="48627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775820" cy="690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42438" y="6140941"/>
            <a:ext cx="3163268" cy="2582418"/>
            <a:chOff x="0" y="0"/>
            <a:chExt cx="775820" cy="6333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5820" cy="633361"/>
            </a:xfrm>
            <a:custGeom>
              <a:avLst/>
              <a:gdLst/>
              <a:ahLst/>
              <a:cxnLst/>
              <a:rect r="r" b="b" t="t" l="l"/>
              <a:pathLst>
                <a:path h="633361" w="775820">
                  <a:moveTo>
                    <a:pt x="0" y="0"/>
                  </a:moveTo>
                  <a:lnTo>
                    <a:pt x="775820" y="0"/>
                  </a:lnTo>
                  <a:lnTo>
                    <a:pt x="775820" y="633361"/>
                  </a:lnTo>
                  <a:lnTo>
                    <a:pt x="0" y="633361"/>
                  </a:lnTo>
                  <a:close/>
                </a:path>
              </a:pathLst>
            </a:custGeom>
            <a:solidFill>
              <a:srgbClr val="9EA3BB">
                <a:alpha val="48627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75820" cy="690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972431" y="6131453"/>
            <a:ext cx="3163268" cy="2582418"/>
            <a:chOff x="0" y="0"/>
            <a:chExt cx="775820" cy="6333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5820" cy="633361"/>
            </a:xfrm>
            <a:custGeom>
              <a:avLst/>
              <a:gdLst/>
              <a:ahLst/>
              <a:cxnLst/>
              <a:rect r="r" b="b" t="t" l="l"/>
              <a:pathLst>
                <a:path h="633361" w="775820">
                  <a:moveTo>
                    <a:pt x="0" y="0"/>
                  </a:moveTo>
                  <a:lnTo>
                    <a:pt x="775820" y="0"/>
                  </a:lnTo>
                  <a:lnTo>
                    <a:pt x="775820" y="633361"/>
                  </a:lnTo>
                  <a:lnTo>
                    <a:pt x="0" y="633361"/>
                  </a:lnTo>
                  <a:close/>
                </a:path>
              </a:pathLst>
            </a:custGeom>
            <a:solidFill>
              <a:srgbClr val="9EA3BB">
                <a:alpha val="4862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75820" cy="6905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068631" y="3706984"/>
            <a:ext cx="11901385" cy="848675"/>
          </a:xfrm>
          <a:custGeom>
            <a:avLst/>
            <a:gdLst/>
            <a:ahLst/>
            <a:cxnLst/>
            <a:rect r="r" b="b" t="t" l="l"/>
            <a:pathLst>
              <a:path h="848675" w="11901385">
                <a:moveTo>
                  <a:pt x="0" y="0"/>
                </a:moveTo>
                <a:lnTo>
                  <a:pt x="11901385" y="0"/>
                </a:lnTo>
                <a:lnTo>
                  <a:pt x="11901385" y="848675"/>
                </a:lnTo>
                <a:lnTo>
                  <a:pt x="0" y="84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6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84485" y="6251473"/>
            <a:ext cx="2860489" cy="1986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Diseñar una estructura escalable para productos, usuarios, carritos y reglas de negocio.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02417" y="5207491"/>
            <a:ext cx="215110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b="true" sz="2500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C</a:t>
            </a:r>
            <a:r>
              <a:rPr lang="en-US" b="true" sz="2500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APTURA EN TIEMPO REAL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99019" y="5198003"/>
            <a:ext cx="234462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b="true" sz="2500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BACK OFFICE + FRO</a:t>
            </a:r>
            <a:r>
              <a:rPr lang="en-US" b="true" sz="2500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NT OFFICE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573660" y="5198003"/>
            <a:ext cx="198360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b="true" sz="2500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VALIDACIÓN R</a:t>
            </a:r>
            <a:r>
              <a:rPr lang="en-US" b="true" sz="2500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EAL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97195" y="5198003"/>
            <a:ext cx="209762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b="true" sz="2500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DASHBOARD DE KPIS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191087" y="6205553"/>
            <a:ext cx="2947392" cy="238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Identificar automáticamente al primer comprador desde TikTok Live, buscando un 95% de acierto en pruebas.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41085" y="6205553"/>
            <a:ext cx="2860489" cy="1986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Desarrollar la gestión del live para la vendedora y el carrito con link único para la clienta.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15761" y="6205553"/>
            <a:ext cx="2860489" cy="158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Visualizar ventas, conversión, tiempo de pago y prendas liberadas por timeout.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23821" y="6205553"/>
            <a:ext cx="2860489" cy="158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Probar SocialSale en al menos 3 transmisiones y medir la reducción del tiempo de gestión.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30459"/>
            <a:ext cx="7807686" cy="5828980"/>
            <a:chOff x="0" y="0"/>
            <a:chExt cx="2219947" cy="1657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9947" cy="1657345"/>
            </a:xfrm>
            <a:custGeom>
              <a:avLst/>
              <a:gdLst/>
              <a:ahLst/>
              <a:cxnLst/>
              <a:rect r="r" b="b" t="t" l="l"/>
              <a:pathLst>
                <a:path h="1657345" w="2219947">
                  <a:moveTo>
                    <a:pt x="0" y="0"/>
                  </a:moveTo>
                  <a:lnTo>
                    <a:pt x="2219947" y="0"/>
                  </a:lnTo>
                  <a:lnTo>
                    <a:pt x="2219947" y="1657345"/>
                  </a:lnTo>
                  <a:lnTo>
                    <a:pt x="0" y="1657345"/>
                  </a:ln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19947" cy="1714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1245" y="2736353"/>
            <a:ext cx="6754507" cy="145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1"/>
              </a:lnSpc>
            </a:pPr>
            <a:r>
              <a:rPr lang="en-US" sz="10876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METODOLOGÍA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233047" y="4504267"/>
            <a:ext cx="8038974" cy="1182955"/>
            <a:chOff x="0" y="0"/>
            <a:chExt cx="1971630" cy="290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1630" cy="290130"/>
            </a:xfrm>
            <a:custGeom>
              <a:avLst/>
              <a:gdLst/>
              <a:ahLst/>
              <a:cxnLst/>
              <a:rect r="r" b="b" t="t" l="l"/>
              <a:pathLst>
                <a:path h="290130" w="1971630">
                  <a:moveTo>
                    <a:pt x="0" y="0"/>
                  </a:moveTo>
                  <a:lnTo>
                    <a:pt x="1971630" y="0"/>
                  </a:lnTo>
                  <a:lnTo>
                    <a:pt x="1971630" y="290130"/>
                  </a:lnTo>
                  <a:lnTo>
                    <a:pt x="0" y="290130"/>
                  </a:lnTo>
                  <a:close/>
                </a:path>
              </a:pathLst>
            </a:custGeom>
            <a:solidFill>
              <a:srgbClr val="CBDAE4">
                <a:alpha val="48627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71630" cy="347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425840" y="4812363"/>
            <a:ext cx="566765" cy="566765"/>
          </a:xfrm>
          <a:custGeom>
            <a:avLst/>
            <a:gdLst/>
            <a:ahLst/>
            <a:cxnLst/>
            <a:rect r="r" b="b" t="t" l="l"/>
            <a:pathLst>
              <a:path h="566765" w="566765">
                <a:moveTo>
                  <a:pt x="0" y="0"/>
                </a:moveTo>
                <a:lnTo>
                  <a:pt x="566765" y="0"/>
                </a:lnTo>
                <a:lnTo>
                  <a:pt x="566765" y="566764"/>
                </a:lnTo>
                <a:lnTo>
                  <a:pt x="0" y="566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23149" y="5574226"/>
            <a:ext cx="7218787" cy="1182955"/>
            <a:chOff x="0" y="0"/>
            <a:chExt cx="1770472" cy="290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70472" cy="290130"/>
            </a:xfrm>
            <a:custGeom>
              <a:avLst/>
              <a:gdLst/>
              <a:ahLst/>
              <a:cxnLst/>
              <a:rect r="r" b="b" t="t" l="l"/>
              <a:pathLst>
                <a:path h="290130" w="1770472">
                  <a:moveTo>
                    <a:pt x="0" y="0"/>
                  </a:moveTo>
                  <a:lnTo>
                    <a:pt x="1770472" y="0"/>
                  </a:lnTo>
                  <a:lnTo>
                    <a:pt x="1770472" y="290130"/>
                  </a:lnTo>
                  <a:lnTo>
                    <a:pt x="0" y="29013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70472" cy="347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33047" y="5880589"/>
            <a:ext cx="8038974" cy="1182955"/>
            <a:chOff x="0" y="0"/>
            <a:chExt cx="1971630" cy="2901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1630" cy="290130"/>
            </a:xfrm>
            <a:custGeom>
              <a:avLst/>
              <a:gdLst/>
              <a:ahLst/>
              <a:cxnLst/>
              <a:rect r="r" b="b" t="t" l="l"/>
              <a:pathLst>
                <a:path h="290130" w="1971630">
                  <a:moveTo>
                    <a:pt x="0" y="0"/>
                  </a:moveTo>
                  <a:lnTo>
                    <a:pt x="1971630" y="0"/>
                  </a:lnTo>
                  <a:lnTo>
                    <a:pt x="1971630" y="290130"/>
                  </a:lnTo>
                  <a:lnTo>
                    <a:pt x="0" y="290130"/>
                  </a:lnTo>
                  <a:close/>
                </a:path>
              </a:pathLst>
            </a:custGeom>
            <a:solidFill>
              <a:srgbClr val="CBDAE4">
                <a:alpha val="48627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971630" cy="347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425840" y="6190417"/>
            <a:ext cx="566765" cy="566765"/>
          </a:xfrm>
          <a:custGeom>
            <a:avLst/>
            <a:gdLst/>
            <a:ahLst/>
            <a:cxnLst/>
            <a:rect r="r" b="b" t="t" l="l"/>
            <a:pathLst>
              <a:path h="566765" w="566765">
                <a:moveTo>
                  <a:pt x="0" y="0"/>
                </a:moveTo>
                <a:lnTo>
                  <a:pt x="566765" y="0"/>
                </a:lnTo>
                <a:lnTo>
                  <a:pt x="566765" y="566764"/>
                </a:lnTo>
                <a:lnTo>
                  <a:pt x="0" y="566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233047" y="3130812"/>
            <a:ext cx="8038974" cy="1182955"/>
            <a:chOff x="0" y="0"/>
            <a:chExt cx="1971630" cy="2901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1630" cy="290130"/>
            </a:xfrm>
            <a:custGeom>
              <a:avLst/>
              <a:gdLst/>
              <a:ahLst/>
              <a:cxnLst/>
              <a:rect r="r" b="b" t="t" l="l"/>
              <a:pathLst>
                <a:path h="290130" w="1971630">
                  <a:moveTo>
                    <a:pt x="0" y="0"/>
                  </a:moveTo>
                  <a:lnTo>
                    <a:pt x="1971630" y="0"/>
                  </a:lnTo>
                  <a:lnTo>
                    <a:pt x="1971630" y="290130"/>
                  </a:lnTo>
                  <a:lnTo>
                    <a:pt x="0" y="290130"/>
                  </a:lnTo>
                  <a:close/>
                </a:path>
              </a:pathLst>
            </a:custGeom>
            <a:solidFill>
              <a:srgbClr val="CBDAE4">
                <a:alpha val="48627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71630" cy="347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425840" y="3438907"/>
            <a:ext cx="566765" cy="566765"/>
          </a:xfrm>
          <a:custGeom>
            <a:avLst/>
            <a:gdLst/>
            <a:ahLst/>
            <a:cxnLst/>
            <a:rect r="r" b="b" t="t" l="l"/>
            <a:pathLst>
              <a:path h="566765" w="566765">
                <a:moveTo>
                  <a:pt x="0" y="0"/>
                </a:moveTo>
                <a:lnTo>
                  <a:pt x="566765" y="0"/>
                </a:lnTo>
                <a:lnTo>
                  <a:pt x="566765" y="566765"/>
                </a:lnTo>
                <a:lnTo>
                  <a:pt x="0" y="566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5400000">
            <a:off x="10771107" y="-4892407"/>
            <a:ext cx="9942894" cy="4693844"/>
            <a:chOff x="0" y="0"/>
            <a:chExt cx="812800" cy="3837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383707"/>
            </a:xfrm>
            <a:custGeom>
              <a:avLst/>
              <a:gdLst/>
              <a:ahLst/>
              <a:cxnLst/>
              <a:rect r="r" b="b" t="t" l="l"/>
              <a:pathLst>
                <a:path h="383707" w="812800">
                  <a:moveTo>
                    <a:pt x="609600" y="0"/>
                  </a:moveTo>
                  <a:cubicBezTo>
                    <a:pt x="721824" y="0"/>
                    <a:pt x="812800" y="85896"/>
                    <a:pt x="812800" y="191853"/>
                  </a:cubicBezTo>
                  <a:cubicBezTo>
                    <a:pt x="812800" y="297811"/>
                    <a:pt x="721824" y="383707"/>
                    <a:pt x="609600" y="383707"/>
                  </a:cubicBezTo>
                  <a:lnTo>
                    <a:pt x="203200" y="383707"/>
                  </a:lnTo>
                  <a:cubicBezTo>
                    <a:pt x="90976" y="383707"/>
                    <a:pt x="0" y="297811"/>
                    <a:pt x="0" y="191853"/>
                  </a:cubicBezTo>
                  <a:cubicBezTo>
                    <a:pt x="0" y="858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ECDC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12800" cy="44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2883904" y="8665650"/>
            <a:ext cx="23784504" cy="13820870"/>
            <a:chOff x="0" y="0"/>
            <a:chExt cx="1398757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98757" cy="812800"/>
            </a:xfrm>
            <a:custGeom>
              <a:avLst/>
              <a:gdLst/>
              <a:ahLst/>
              <a:cxnLst/>
              <a:rect r="r" b="b" t="t" l="l"/>
              <a:pathLst>
                <a:path h="812800" w="1398757">
                  <a:moveTo>
                    <a:pt x="699379" y="0"/>
                  </a:moveTo>
                  <a:cubicBezTo>
                    <a:pt x="313123" y="0"/>
                    <a:pt x="0" y="181951"/>
                    <a:pt x="0" y="406400"/>
                  </a:cubicBezTo>
                  <a:cubicBezTo>
                    <a:pt x="0" y="630849"/>
                    <a:pt x="313123" y="812800"/>
                    <a:pt x="699379" y="812800"/>
                  </a:cubicBezTo>
                  <a:cubicBezTo>
                    <a:pt x="1085635" y="812800"/>
                    <a:pt x="1398757" y="630849"/>
                    <a:pt x="1398757" y="406400"/>
                  </a:cubicBezTo>
                  <a:cubicBezTo>
                    <a:pt x="1398757" y="181951"/>
                    <a:pt x="1085635" y="0"/>
                    <a:pt x="699379" y="0"/>
                  </a:cubicBezTo>
                  <a:close/>
                </a:path>
              </a:pathLst>
            </a:custGeom>
            <a:solidFill>
              <a:srgbClr val="B9BED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31134" y="19050"/>
              <a:ext cx="113649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91245" y="2425962"/>
            <a:ext cx="1368834" cy="138554"/>
            <a:chOff x="0" y="0"/>
            <a:chExt cx="360516" cy="364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0516" cy="36492"/>
            </a:xfrm>
            <a:custGeom>
              <a:avLst/>
              <a:gdLst/>
              <a:ahLst/>
              <a:cxnLst/>
              <a:rect r="r" b="b" t="t" l="l"/>
              <a:pathLst>
                <a:path h="36492" w="360516">
                  <a:moveTo>
                    <a:pt x="0" y="0"/>
                  </a:moveTo>
                  <a:lnTo>
                    <a:pt x="360516" y="0"/>
                  </a:lnTo>
                  <a:lnTo>
                    <a:pt x="360516" y="36492"/>
                  </a:lnTo>
                  <a:lnTo>
                    <a:pt x="0" y="36492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60516" cy="93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1401347" y="5684225"/>
            <a:ext cx="954653" cy="901346"/>
            <a:chOff x="0" y="0"/>
            <a:chExt cx="406400" cy="38370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383707"/>
            </a:xfrm>
            <a:custGeom>
              <a:avLst/>
              <a:gdLst/>
              <a:ahLst/>
              <a:cxnLst/>
              <a:rect r="r" b="b" t="t" l="l"/>
              <a:pathLst>
                <a:path h="383707" w="406400">
                  <a:moveTo>
                    <a:pt x="203200" y="0"/>
                  </a:moveTo>
                  <a:cubicBezTo>
                    <a:pt x="315424" y="0"/>
                    <a:pt x="406400" y="85896"/>
                    <a:pt x="406400" y="191853"/>
                  </a:cubicBezTo>
                  <a:cubicBezTo>
                    <a:pt x="406400" y="297811"/>
                    <a:pt x="315424" y="383707"/>
                    <a:pt x="203200" y="383707"/>
                  </a:cubicBezTo>
                  <a:lnTo>
                    <a:pt x="203200" y="383707"/>
                  </a:lnTo>
                  <a:cubicBezTo>
                    <a:pt x="90976" y="383707"/>
                    <a:pt x="0" y="297811"/>
                    <a:pt x="0" y="191853"/>
                  </a:cubicBezTo>
                  <a:cubicBezTo>
                    <a:pt x="0" y="858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ECDC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406400" cy="44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608165" y="5759966"/>
            <a:ext cx="567497" cy="713833"/>
          </a:xfrm>
          <a:custGeom>
            <a:avLst/>
            <a:gdLst/>
            <a:ahLst/>
            <a:cxnLst/>
            <a:rect r="r" b="b" t="t" l="l"/>
            <a:pathLst>
              <a:path h="713833" w="567497">
                <a:moveTo>
                  <a:pt x="0" y="0"/>
                </a:moveTo>
                <a:lnTo>
                  <a:pt x="567497" y="0"/>
                </a:lnTo>
                <a:lnTo>
                  <a:pt x="567497" y="713833"/>
                </a:lnTo>
                <a:lnTo>
                  <a:pt x="0" y="713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883777" y="3617730"/>
            <a:ext cx="236197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i="true" b="true">
                <a:solidFill>
                  <a:srgbClr val="242D3B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KANBAN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88935" y="5732428"/>
            <a:ext cx="6430839" cy="3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404" b="true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Organización visual y trabajo continuo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68516" y="4743197"/>
            <a:ext cx="6430839" cy="3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404" b="true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Se adapta a cambios de prioridad de la clienta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68516" y="6115848"/>
            <a:ext cx="6430839" cy="3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404" b="true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Seguimiento continuo del avance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68516" y="3376151"/>
            <a:ext cx="6430839" cy="38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404" b="true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Organización visual del trabajo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68516" y="5137176"/>
            <a:ext cx="6430839" cy="29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1804" i="true">
                <a:solidFill>
                  <a:srgbClr val="242D3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Las tareas pueden reorganizarse según las necesidades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68516" y="3765864"/>
            <a:ext cx="7791992" cy="29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1804" i="true">
                <a:solidFill>
                  <a:srgbClr val="242D3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Permite saber qué tareas están pendientes, en proceso o terminadas.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68516" y="6509827"/>
            <a:ext cx="6430839" cy="29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1804" i="true">
                <a:solidFill>
                  <a:srgbClr val="242D3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Facilita controlar el progreso y detectar atrasos.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488935" y="6108554"/>
            <a:ext cx="6053001" cy="30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i="true">
                <a:solidFill>
                  <a:srgbClr val="242D3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POR HACER → EN PROCESO → EN REVISIÓN → TERMINADO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3446152" y="2213859"/>
            <a:ext cx="0" cy="6326219"/>
          </a:xfrm>
          <a:prstGeom prst="line">
            <a:avLst/>
          </a:prstGeom>
          <a:ln cap="flat" w="38100">
            <a:solidFill>
              <a:srgbClr val="242D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944815" y="1449293"/>
            <a:ext cx="1530026" cy="1462541"/>
            <a:chOff x="0" y="0"/>
            <a:chExt cx="402970" cy="3851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2970" cy="385196"/>
            </a:xfrm>
            <a:custGeom>
              <a:avLst/>
              <a:gdLst/>
              <a:ahLst/>
              <a:cxnLst/>
              <a:rect r="r" b="b" t="t" l="l"/>
              <a:pathLst>
                <a:path h="385196" w="402970">
                  <a:moveTo>
                    <a:pt x="131560" y="0"/>
                  </a:moveTo>
                  <a:lnTo>
                    <a:pt x="271410" y="0"/>
                  </a:lnTo>
                  <a:cubicBezTo>
                    <a:pt x="306302" y="0"/>
                    <a:pt x="339765" y="13861"/>
                    <a:pt x="364437" y="38533"/>
                  </a:cubicBezTo>
                  <a:cubicBezTo>
                    <a:pt x="389109" y="63205"/>
                    <a:pt x="402970" y="96668"/>
                    <a:pt x="402970" y="131560"/>
                  </a:cubicBezTo>
                  <a:lnTo>
                    <a:pt x="402970" y="253636"/>
                  </a:lnTo>
                  <a:cubicBezTo>
                    <a:pt x="402970" y="288528"/>
                    <a:pt x="389109" y="321991"/>
                    <a:pt x="364437" y="346663"/>
                  </a:cubicBezTo>
                  <a:cubicBezTo>
                    <a:pt x="339765" y="371335"/>
                    <a:pt x="306302" y="385196"/>
                    <a:pt x="271410" y="385196"/>
                  </a:cubicBezTo>
                  <a:lnTo>
                    <a:pt x="131560" y="385196"/>
                  </a:lnTo>
                  <a:cubicBezTo>
                    <a:pt x="58901" y="385196"/>
                    <a:pt x="0" y="326295"/>
                    <a:pt x="0" y="253636"/>
                  </a:cubicBezTo>
                  <a:lnTo>
                    <a:pt x="0" y="131560"/>
                  </a:lnTo>
                  <a:cubicBezTo>
                    <a:pt x="0" y="96668"/>
                    <a:pt x="13861" y="63205"/>
                    <a:pt x="38533" y="38533"/>
                  </a:cubicBezTo>
                  <a:cubicBezTo>
                    <a:pt x="63205" y="13861"/>
                    <a:pt x="96668" y="0"/>
                    <a:pt x="131560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02970" cy="442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691106">
            <a:off x="10111708" y="1662074"/>
            <a:ext cx="934174" cy="934174"/>
          </a:xfrm>
          <a:custGeom>
            <a:avLst/>
            <a:gdLst/>
            <a:ahLst/>
            <a:cxnLst/>
            <a:rect r="r" b="b" t="t" l="l"/>
            <a:pathLst>
              <a:path h="934174" w="934174">
                <a:moveTo>
                  <a:pt x="0" y="0"/>
                </a:moveTo>
                <a:lnTo>
                  <a:pt x="934175" y="0"/>
                </a:lnTo>
                <a:lnTo>
                  <a:pt x="934175" y="934174"/>
                </a:lnTo>
                <a:lnTo>
                  <a:pt x="0" y="934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918607" y="1028700"/>
            <a:ext cx="5092217" cy="2520113"/>
            <a:chOff x="0" y="0"/>
            <a:chExt cx="1721293" cy="8518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21293" cy="851860"/>
            </a:xfrm>
            <a:custGeom>
              <a:avLst/>
              <a:gdLst/>
              <a:ahLst/>
              <a:cxnLst/>
              <a:rect r="r" b="b" t="t" l="l"/>
              <a:pathLst>
                <a:path h="851860" w="1721293">
                  <a:moveTo>
                    <a:pt x="0" y="0"/>
                  </a:moveTo>
                  <a:lnTo>
                    <a:pt x="1721293" y="0"/>
                  </a:lnTo>
                  <a:lnTo>
                    <a:pt x="1721293" y="851860"/>
                  </a:lnTo>
                  <a:lnTo>
                    <a:pt x="0" y="851860"/>
                  </a:ln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721293" cy="909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243671" y="4223635"/>
            <a:ext cx="1866801" cy="1898445"/>
            <a:chOff x="0" y="0"/>
            <a:chExt cx="491668" cy="5000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1668" cy="500002"/>
            </a:xfrm>
            <a:custGeom>
              <a:avLst/>
              <a:gdLst/>
              <a:ahLst/>
              <a:cxnLst/>
              <a:rect r="r" b="b" t="t" l="l"/>
              <a:pathLst>
                <a:path h="500002" w="491668">
                  <a:moveTo>
                    <a:pt x="107826" y="0"/>
                  </a:moveTo>
                  <a:lnTo>
                    <a:pt x="383842" y="0"/>
                  </a:lnTo>
                  <a:cubicBezTo>
                    <a:pt x="443392" y="0"/>
                    <a:pt x="491668" y="48275"/>
                    <a:pt x="491668" y="107826"/>
                  </a:cubicBezTo>
                  <a:lnTo>
                    <a:pt x="491668" y="392176"/>
                  </a:lnTo>
                  <a:cubicBezTo>
                    <a:pt x="491668" y="451727"/>
                    <a:pt x="443392" y="500002"/>
                    <a:pt x="383842" y="500002"/>
                  </a:cubicBezTo>
                  <a:lnTo>
                    <a:pt x="107826" y="500002"/>
                  </a:lnTo>
                  <a:cubicBezTo>
                    <a:pt x="48275" y="500002"/>
                    <a:pt x="0" y="451727"/>
                    <a:pt x="0" y="392176"/>
                  </a:cubicBezTo>
                  <a:lnTo>
                    <a:pt x="0" y="107826"/>
                  </a:lnTo>
                  <a:cubicBezTo>
                    <a:pt x="0" y="48275"/>
                    <a:pt x="48275" y="0"/>
                    <a:pt x="107826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91668" cy="557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438771">
            <a:off x="15875645" y="4595766"/>
            <a:ext cx="1069054" cy="1096466"/>
          </a:xfrm>
          <a:custGeom>
            <a:avLst/>
            <a:gdLst/>
            <a:ahLst/>
            <a:cxnLst/>
            <a:rect r="r" b="b" t="t" l="l"/>
            <a:pathLst>
              <a:path h="1096466" w="1069054">
                <a:moveTo>
                  <a:pt x="0" y="0"/>
                </a:moveTo>
                <a:lnTo>
                  <a:pt x="1069054" y="0"/>
                </a:lnTo>
                <a:lnTo>
                  <a:pt x="1069054" y="1096466"/>
                </a:lnTo>
                <a:lnTo>
                  <a:pt x="0" y="10964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918607" y="3883942"/>
            <a:ext cx="5092217" cy="2520113"/>
            <a:chOff x="0" y="0"/>
            <a:chExt cx="1721293" cy="8518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1293" cy="851860"/>
            </a:xfrm>
            <a:custGeom>
              <a:avLst/>
              <a:gdLst/>
              <a:ahLst/>
              <a:cxnLst/>
              <a:rect r="r" b="b" t="t" l="l"/>
              <a:pathLst>
                <a:path h="851860" w="1721293">
                  <a:moveTo>
                    <a:pt x="0" y="0"/>
                  </a:moveTo>
                  <a:lnTo>
                    <a:pt x="1721293" y="0"/>
                  </a:lnTo>
                  <a:lnTo>
                    <a:pt x="1721293" y="851860"/>
                  </a:lnTo>
                  <a:lnTo>
                    <a:pt x="0" y="851860"/>
                  </a:ln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21293" cy="909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41708" y="7235440"/>
            <a:ext cx="1530026" cy="1462541"/>
            <a:chOff x="0" y="0"/>
            <a:chExt cx="402970" cy="3851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2970" cy="385196"/>
            </a:xfrm>
            <a:custGeom>
              <a:avLst/>
              <a:gdLst/>
              <a:ahLst/>
              <a:cxnLst/>
              <a:rect r="r" b="b" t="t" l="l"/>
              <a:pathLst>
                <a:path h="385196" w="402970">
                  <a:moveTo>
                    <a:pt x="131560" y="0"/>
                  </a:moveTo>
                  <a:lnTo>
                    <a:pt x="271410" y="0"/>
                  </a:lnTo>
                  <a:cubicBezTo>
                    <a:pt x="306302" y="0"/>
                    <a:pt x="339765" y="13861"/>
                    <a:pt x="364437" y="38533"/>
                  </a:cubicBezTo>
                  <a:cubicBezTo>
                    <a:pt x="389109" y="63205"/>
                    <a:pt x="402970" y="96668"/>
                    <a:pt x="402970" y="131560"/>
                  </a:cubicBezTo>
                  <a:lnTo>
                    <a:pt x="402970" y="253636"/>
                  </a:lnTo>
                  <a:cubicBezTo>
                    <a:pt x="402970" y="288528"/>
                    <a:pt x="389109" y="321991"/>
                    <a:pt x="364437" y="346663"/>
                  </a:cubicBezTo>
                  <a:cubicBezTo>
                    <a:pt x="339765" y="371335"/>
                    <a:pt x="306302" y="385196"/>
                    <a:pt x="271410" y="385196"/>
                  </a:cubicBezTo>
                  <a:lnTo>
                    <a:pt x="131560" y="385196"/>
                  </a:lnTo>
                  <a:cubicBezTo>
                    <a:pt x="58901" y="385196"/>
                    <a:pt x="0" y="326295"/>
                    <a:pt x="0" y="253636"/>
                  </a:cubicBezTo>
                  <a:lnTo>
                    <a:pt x="0" y="131560"/>
                  </a:lnTo>
                  <a:cubicBezTo>
                    <a:pt x="0" y="96668"/>
                    <a:pt x="13861" y="63205"/>
                    <a:pt x="38533" y="38533"/>
                  </a:cubicBezTo>
                  <a:cubicBezTo>
                    <a:pt x="63205" y="13861"/>
                    <a:pt x="96668" y="0"/>
                    <a:pt x="131560" y="0"/>
                  </a:cubicBezTo>
                  <a:close/>
                </a:path>
              </a:pathLst>
            </a:custGeom>
            <a:solidFill>
              <a:srgbClr val="CABD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02970" cy="442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18607" y="6738187"/>
            <a:ext cx="5092217" cy="2520113"/>
            <a:chOff x="0" y="0"/>
            <a:chExt cx="1721293" cy="8518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21293" cy="851860"/>
            </a:xfrm>
            <a:custGeom>
              <a:avLst/>
              <a:gdLst/>
              <a:ahLst/>
              <a:cxnLst/>
              <a:rect r="r" b="b" t="t" l="l"/>
              <a:pathLst>
                <a:path h="851860" w="1721293">
                  <a:moveTo>
                    <a:pt x="0" y="0"/>
                  </a:moveTo>
                  <a:lnTo>
                    <a:pt x="1721293" y="0"/>
                  </a:lnTo>
                  <a:lnTo>
                    <a:pt x="1721293" y="851860"/>
                  </a:lnTo>
                  <a:lnTo>
                    <a:pt x="0" y="851860"/>
                  </a:ln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21293" cy="909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027846" y="7513479"/>
            <a:ext cx="911357" cy="969528"/>
          </a:xfrm>
          <a:custGeom>
            <a:avLst/>
            <a:gdLst/>
            <a:ahLst/>
            <a:cxnLst/>
            <a:rect r="r" b="b" t="t" l="l"/>
            <a:pathLst>
              <a:path h="969528" w="911357">
                <a:moveTo>
                  <a:pt x="0" y="0"/>
                </a:moveTo>
                <a:lnTo>
                  <a:pt x="911356" y="0"/>
                </a:lnTo>
                <a:lnTo>
                  <a:pt x="911356" y="969529"/>
                </a:lnTo>
                <a:lnTo>
                  <a:pt x="0" y="969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10800000">
            <a:off x="-2338478" y="2604996"/>
            <a:ext cx="11753229" cy="4252333"/>
            <a:chOff x="0" y="0"/>
            <a:chExt cx="960789" cy="3476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0789" cy="347615"/>
            </a:xfrm>
            <a:custGeom>
              <a:avLst/>
              <a:gdLst/>
              <a:ahLst/>
              <a:cxnLst/>
              <a:rect r="r" b="b" t="t" l="l"/>
              <a:pathLst>
                <a:path h="347615" w="960789">
                  <a:moveTo>
                    <a:pt x="757589" y="0"/>
                  </a:moveTo>
                  <a:cubicBezTo>
                    <a:pt x="869813" y="0"/>
                    <a:pt x="960789" y="77816"/>
                    <a:pt x="960789" y="173807"/>
                  </a:cubicBezTo>
                  <a:cubicBezTo>
                    <a:pt x="960789" y="269799"/>
                    <a:pt x="869813" y="347615"/>
                    <a:pt x="757589" y="347615"/>
                  </a:cubicBezTo>
                  <a:lnTo>
                    <a:pt x="203200" y="347615"/>
                  </a:lnTo>
                  <a:cubicBezTo>
                    <a:pt x="90976" y="347615"/>
                    <a:pt x="0" y="269799"/>
                    <a:pt x="0" y="173807"/>
                  </a:cubicBezTo>
                  <a:cubicBezTo>
                    <a:pt x="0" y="7781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BDAE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60789" cy="40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3321684"/>
            <a:ext cx="8871939" cy="273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1"/>
              </a:lnSpc>
            </a:pPr>
            <a:r>
              <a:rPr lang="en-US" sz="11676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PLAN DE TRABAJO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5562688"/>
            <a:ext cx="7078432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i="true">
                <a:solidFill>
                  <a:srgbClr val="242D3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Organización y planificación de SocialSale antes de su desarrollo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79571" y="1184490"/>
            <a:ext cx="3333164" cy="30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b="true" sz="2299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DEFINICION Y ANALISIS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61665" y="1559161"/>
            <a:ext cx="4568975" cy="184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9"/>
              </a:lnSpc>
            </a:pPr>
            <a:r>
              <a:rPr lang="en-US" sz="1999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Semanas iniciales</a:t>
            </a:r>
          </a:p>
          <a:p>
            <a:pPr algn="l" marL="431799" indent="-215899" lvl="1">
              <a:lnSpc>
                <a:spcPts val="2439"/>
              </a:lnSpc>
              <a:buFont typeface="Arial"/>
              <a:buChar char="•"/>
            </a:pPr>
            <a:r>
              <a:rPr lang="en-US" sz="1999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Definición del problema y propósito</a:t>
            </a:r>
            <a:r>
              <a:rPr lang="en-US" sz="1999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431799" indent="-215899" lvl="1">
              <a:lnSpc>
                <a:spcPts val="2439"/>
              </a:lnSpc>
              <a:buFont typeface="Arial"/>
              <a:buChar char="•"/>
            </a:pPr>
            <a:r>
              <a:rPr lang="en-US" sz="1999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Levantamiento de requerimientos con la clienta.</a:t>
            </a:r>
          </a:p>
          <a:p>
            <a:pPr algn="l" marL="431799" indent="-215899" lvl="1">
              <a:lnSpc>
                <a:spcPts val="2439"/>
              </a:lnSpc>
              <a:buFont typeface="Arial"/>
              <a:buChar char="•"/>
            </a:pPr>
            <a:r>
              <a:rPr lang="en-US" sz="1999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Alcance y objetivos.</a:t>
            </a:r>
          </a:p>
          <a:p>
            <a:pPr algn="l" marL="431799" indent="-215899" lvl="1">
              <a:lnSpc>
                <a:spcPts val="2439"/>
              </a:lnSpc>
              <a:buFont typeface="Arial"/>
              <a:buChar char="•"/>
            </a:pPr>
            <a:r>
              <a:rPr lang="en-US" sz="1999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Análisis de factibilidad.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62326" y="4047781"/>
            <a:ext cx="4647884" cy="30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b="true" sz="2299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PLANIFICACIÓN DE LA SOLUCIÓN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62326" y="4412949"/>
            <a:ext cx="4856364" cy="184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Diseño y organización técnica</a:t>
            </a:r>
          </a:p>
          <a:p>
            <a:pPr algn="l" marL="431380" indent="-215690" lvl="1">
              <a:lnSpc>
                <a:spcPts val="2437"/>
              </a:lnSpc>
              <a:buFont typeface="Arial"/>
              <a:buChar char="•"/>
            </a:pPr>
            <a:r>
              <a:rPr lang="en-US" sz="19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Definición de módulos de SocialSale</a:t>
            </a:r>
            <a:r>
              <a:rPr lang="en-US" sz="19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431380" indent="-215690" lvl="1">
              <a:lnSpc>
                <a:spcPts val="2437"/>
              </a:lnSpc>
              <a:buFont typeface="Arial"/>
              <a:buChar char="•"/>
            </a:pPr>
            <a:r>
              <a:rPr lang="en-US" sz="19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Planificación del modelo de datos.</a:t>
            </a:r>
          </a:p>
          <a:p>
            <a:pPr algn="l" marL="431380" indent="-215690" lvl="1">
              <a:lnSpc>
                <a:spcPts val="2437"/>
              </a:lnSpc>
              <a:buFont typeface="Arial"/>
              <a:buChar char="•"/>
            </a:pPr>
            <a:r>
              <a:rPr lang="en-US" sz="19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Arquitectura y tecnologías.</a:t>
            </a:r>
          </a:p>
          <a:p>
            <a:pPr algn="l" marL="431380" indent="-215690" lvl="1">
              <a:lnSpc>
                <a:spcPts val="2437"/>
              </a:lnSpc>
              <a:buFont typeface="Arial"/>
              <a:buChar char="•"/>
            </a:pPr>
            <a:r>
              <a:rPr lang="en-US" sz="19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Distribución de tareas y responsabilidades.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74842" y="6927930"/>
            <a:ext cx="3807325" cy="30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b="true" sz="2299">
                <a:solidFill>
                  <a:srgbClr val="242D3B"/>
                </a:solidFill>
                <a:latin typeface="Roboto Bold"/>
                <a:ea typeface="Roboto Bold"/>
                <a:cs typeface="Roboto Bold"/>
                <a:sym typeface="Roboto Bold"/>
              </a:rPr>
              <a:t>CONTROL Y VALIDACIÓN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61665" y="7311640"/>
            <a:ext cx="4824035" cy="162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20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Preparación para la ejecución</a:t>
            </a:r>
          </a:p>
          <a:p>
            <a:pPr algn="l" marL="452969" indent="-226484" lvl="1">
              <a:lnSpc>
                <a:spcPts val="2559"/>
              </a:lnSpc>
              <a:buFont typeface="Arial"/>
              <a:buChar char="•"/>
            </a:pPr>
            <a:r>
              <a:rPr lang="en-US" sz="20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Identificación de riesgos</a:t>
            </a:r>
            <a:r>
              <a:rPr lang="en-US" sz="20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452969" indent="-226484" lvl="1">
              <a:lnSpc>
                <a:spcPts val="2559"/>
              </a:lnSpc>
              <a:buFont typeface="Arial"/>
              <a:buChar char="•"/>
            </a:pPr>
            <a:r>
              <a:rPr lang="en-US" sz="20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Planificación de pruebas y calidad.</a:t>
            </a:r>
          </a:p>
          <a:p>
            <a:pPr algn="l" marL="452969" indent="-226484" lvl="1">
              <a:lnSpc>
                <a:spcPts val="2559"/>
              </a:lnSpc>
              <a:buFont typeface="Arial"/>
              <a:buChar char="•"/>
            </a:pPr>
            <a:r>
              <a:rPr lang="en-US" sz="20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Validación con clienta real.</a:t>
            </a:r>
          </a:p>
          <a:p>
            <a:pPr algn="l" marL="452969" indent="-226484" lvl="1">
              <a:lnSpc>
                <a:spcPts val="2559"/>
              </a:lnSpc>
              <a:buFont typeface="Arial"/>
              <a:buChar char="•"/>
            </a:pPr>
            <a:r>
              <a:rPr lang="en-US" sz="2098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Documentación y entregables.</a:t>
            </a:r>
          </a:p>
        </p:txBody>
      </p:sp>
      <p:grpSp>
        <p:nvGrpSpPr>
          <p:cNvPr name="Group 35" id="35"/>
          <p:cNvGrpSpPr/>
          <p:nvPr/>
        </p:nvGrpSpPr>
        <p:grpSpPr>
          <a:xfrm rot="-5400000">
            <a:off x="375692" y="3694335"/>
            <a:ext cx="1061436" cy="149331"/>
            <a:chOff x="0" y="0"/>
            <a:chExt cx="279555" cy="3933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9555" cy="39330"/>
            </a:xfrm>
            <a:custGeom>
              <a:avLst/>
              <a:gdLst/>
              <a:ahLst/>
              <a:cxnLst/>
              <a:rect r="r" b="b" t="t" l="l"/>
              <a:pathLst>
                <a:path h="39330" w="279555">
                  <a:moveTo>
                    <a:pt x="0" y="0"/>
                  </a:moveTo>
                  <a:lnTo>
                    <a:pt x="279555" y="0"/>
                  </a:lnTo>
                  <a:lnTo>
                    <a:pt x="279555" y="39330"/>
                  </a:lnTo>
                  <a:lnTo>
                    <a:pt x="0" y="39330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79555" cy="96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12657642" y="-6073532"/>
            <a:ext cx="9942894" cy="4693844"/>
            <a:chOff x="0" y="0"/>
            <a:chExt cx="812800" cy="3837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383707"/>
            </a:xfrm>
            <a:custGeom>
              <a:avLst/>
              <a:gdLst/>
              <a:ahLst/>
              <a:cxnLst/>
              <a:rect r="r" b="b" t="t" l="l"/>
              <a:pathLst>
                <a:path h="383707" w="812800">
                  <a:moveTo>
                    <a:pt x="609600" y="0"/>
                  </a:moveTo>
                  <a:cubicBezTo>
                    <a:pt x="721824" y="0"/>
                    <a:pt x="812800" y="85896"/>
                    <a:pt x="812800" y="191853"/>
                  </a:cubicBezTo>
                  <a:cubicBezTo>
                    <a:pt x="812800" y="297811"/>
                    <a:pt x="721824" y="383707"/>
                    <a:pt x="609600" y="383707"/>
                  </a:cubicBezTo>
                  <a:lnTo>
                    <a:pt x="203200" y="383707"/>
                  </a:lnTo>
                  <a:cubicBezTo>
                    <a:pt x="90976" y="383707"/>
                    <a:pt x="0" y="297811"/>
                    <a:pt x="0" y="191853"/>
                  </a:cubicBezTo>
                  <a:cubicBezTo>
                    <a:pt x="0" y="858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ECDC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812800" cy="44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-5118594" y="10469665"/>
            <a:ext cx="9942894" cy="4693844"/>
            <a:chOff x="0" y="0"/>
            <a:chExt cx="812800" cy="3837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383707"/>
            </a:xfrm>
            <a:custGeom>
              <a:avLst/>
              <a:gdLst/>
              <a:ahLst/>
              <a:cxnLst/>
              <a:rect r="r" b="b" t="t" l="l"/>
              <a:pathLst>
                <a:path h="383707" w="812800">
                  <a:moveTo>
                    <a:pt x="609600" y="0"/>
                  </a:moveTo>
                  <a:cubicBezTo>
                    <a:pt x="721824" y="0"/>
                    <a:pt x="812800" y="85896"/>
                    <a:pt x="812800" y="191853"/>
                  </a:cubicBezTo>
                  <a:cubicBezTo>
                    <a:pt x="812800" y="297811"/>
                    <a:pt x="721824" y="383707"/>
                    <a:pt x="609600" y="383707"/>
                  </a:cubicBezTo>
                  <a:lnTo>
                    <a:pt x="203200" y="383707"/>
                  </a:lnTo>
                  <a:cubicBezTo>
                    <a:pt x="90976" y="383707"/>
                    <a:pt x="0" y="297811"/>
                    <a:pt x="0" y="191853"/>
                  </a:cubicBezTo>
                  <a:cubicBezTo>
                    <a:pt x="0" y="858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ECDCB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12800" cy="44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8540" y="2101102"/>
            <a:ext cx="6546139" cy="6546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DAE4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134793" y="737361"/>
            <a:ext cx="4484141" cy="8872644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242D3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5223" t="0" r="-1522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374E6D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374E6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42D3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42D3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42D3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42D3B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374E6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4006262"/>
            <a:ext cx="4773805" cy="267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6"/>
              </a:lnSpc>
            </a:pPr>
            <a:r>
              <a:rPr lang="en-US" sz="2540">
                <a:solidFill>
                  <a:srgbClr val="242D3B"/>
                </a:solidFill>
                <a:latin typeface="Roboto"/>
                <a:ea typeface="Roboto"/>
                <a:cs typeface="Roboto"/>
                <a:sym typeface="Roboto"/>
              </a:rPr>
              <a:t>SocialSale automatiza la venta en TikTok Live. Reduce errores, evita compras abandonadas y suma un dashboard de Business Intelligence, factible en semanas con metodología Kanban.</a:t>
            </a:r>
          </a:p>
        </p:txBody>
      </p:sp>
      <p:grpSp>
        <p:nvGrpSpPr>
          <p:cNvPr name="Group 16" id="16"/>
          <p:cNvGrpSpPr/>
          <p:nvPr/>
        </p:nvGrpSpPr>
        <p:grpSpPr>
          <a:xfrm rot="-5400000">
            <a:off x="-2451623" y="-3549368"/>
            <a:ext cx="9942894" cy="4693844"/>
            <a:chOff x="0" y="0"/>
            <a:chExt cx="812800" cy="3837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383707"/>
            </a:xfrm>
            <a:custGeom>
              <a:avLst/>
              <a:gdLst/>
              <a:ahLst/>
              <a:cxnLst/>
              <a:rect r="r" b="b" t="t" l="l"/>
              <a:pathLst>
                <a:path h="383707" w="812800">
                  <a:moveTo>
                    <a:pt x="609600" y="0"/>
                  </a:moveTo>
                  <a:cubicBezTo>
                    <a:pt x="721824" y="0"/>
                    <a:pt x="812800" y="85896"/>
                    <a:pt x="812800" y="191853"/>
                  </a:cubicBezTo>
                  <a:cubicBezTo>
                    <a:pt x="812800" y="297811"/>
                    <a:pt x="721824" y="383707"/>
                    <a:pt x="609600" y="383707"/>
                  </a:cubicBezTo>
                  <a:lnTo>
                    <a:pt x="203200" y="383707"/>
                  </a:lnTo>
                  <a:cubicBezTo>
                    <a:pt x="90976" y="383707"/>
                    <a:pt x="0" y="297811"/>
                    <a:pt x="0" y="191853"/>
                  </a:cubicBezTo>
                  <a:cubicBezTo>
                    <a:pt x="0" y="858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ECD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12800" cy="44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1817203"/>
            <a:ext cx="10133609" cy="139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7"/>
              </a:lnSpc>
            </a:pPr>
            <a:r>
              <a:rPr lang="en-US" sz="10409">
                <a:solidFill>
                  <a:srgbClr val="242D3B"/>
                </a:solidFill>
                <a:latin typeface="Impact"/>
                <a:ea typeface="Impact"/>
                <a:cs typeface="Impact"/>
                <a:sym typeface="Impact"/>
              </a:rPr>
              <a:t>CONCLUSION</a:t>
            </a:r>
          </a:p>
        </p:txBody>
      </p:sp>
      <p:grpSp>
        <p:nvGrpSpPr>
          <p:cNvPr name="Group 20" id="20"/>
          <p:cNvGrpSpPr/>
          <p:nvPr/>
        </p:nvGrpSpPr>
        <p:grpSpPr>
          <a:xfrm rot="-10800000">
            <a:off x="1112573" y="2867747"/>
            <a:ext cx="1061436" cy="136515"/>
            <a:chOff x="0" y="0"/>
            <a:chExt cx="279555" cy="359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9555" cy="35955"/>
            </a:xfrm>
            <a:custGeom>
              <a:avLst/>
              <a:gdLst/>
              <a:ahLst/>
              <a:cxnLst/>
              <a:rect r="r" b="b" t="t" l="l"/>
              <a:pathLst>
                <a:path h="35955" w="279555">
                  <a:moveTo>
                    <a:pt x="0" y="0"/>
                  </a:moveTo>
                  <a:lnTo>
                    <a:pt x="279555" y="0"/>
                  </a:lnTo>
                  <a:lnTo>
                    <a:pt x="279555" y="35955"/>
                  </a:lnTo>
                  <a:lnTo>
                    <a:pt x="0" y="35955"/>
                  </a:lnTo>
                  <a:close/>
                </a:path>
              </a:pathLst>
            </a:custGeom>
            <a:gradFill rotWithShape="true">
              <a:gsLst>
                <a:gs pos="0">
                  <a:srgbClr val="FF5757">
                    <a:alpha val="100000"/>
                  </a:srgbClr>
                </a:gs>
                <a:gs pos="100000">
                  <a:srgbClr val="8C52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79555" cy="93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DAHUXRcHgKI</dc:identifier>
  <dcterms:modified xsi:type="dcterms:W3CDTF">2011-08-01T06:04:30Z</dcterms:modified>
  <cp:revision>1</cp:revision>
  <dc:title>Presentacion_proyecto</dc:title>
</cp:coreProperties>
</file>